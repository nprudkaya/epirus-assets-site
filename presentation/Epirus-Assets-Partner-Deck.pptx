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 — COVER
Opening: 'Thank you for making time today. I'd like to give you a clear picture of who we are, how we work in Greece, and explore whether there is a natural fit for your clients.'
Set a collaborative, non-sales tone. You are presenting a potential professional working relationship — not closing a transaction.
IMAGE RECOMMENDATION: Replace the right panel with a full-bleed photo of Ioannina lakefront or Sivota coastline at golden hour. Apply a dark overlay (70–80% opacity) over the right half to maintain the two-panel feel while grounding the slide in a real place.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 — WHY GREECE TODAY
Key message: Greece has strong macro investment fundamentals — and Epirus specifically is at an early-mover stage that most institutional targets (Athens, islands) no longer offer.
Talking points:
- The +20% Epirus tourism growth reflects structural demand from improved infrastructure, not a single season.
- The €250K Golden Visa threshold applies to designated lower-threshold zones including Epirus. Athens threshold is €800K in most zones.
- 12-month operating season is rare in Greek real estate — most island markets run 4–6 months.
For wealth managers: the GV discussion maps to residency planning for HNW clients with EU lifestyle interests.
For immigration consultants: the lower threshold and early-stage market creates faster, more accessible deal flow.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 — CHALLENGES
Key message: International investors face a structural problem in unfamiliar markets. Without a trusted local partner, even strong investment intent stalls at execution.
Use this slide to validate experience — not to lecture. Ask: 'Do any of these resonate with what your clients encounter when they mention Greece?'
Focus by audience:
- Private bankers / wealth managers: remote management + legal complexity.
- Immigration consultants: GV compliance + reliable sourcing partner.
- Family office advisors: off-market access + post-acquisition operations.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4 — WHAT WE DO
Key message: We cover every stage of the investment journey — from identifying the right asset to managing it post-acquisition. Your client builds no separate network in Greece.
Emphasise completeness: many clients struggle with post-acquisition operations as much as acquisition itself — we handle both.
For Golden Visa-focused audiences: steps 3 (GV support) and 4 (due diligence) are especially relevant — compliance failures here are the most common preventable issue.
Don't go deep on each service here — that is a separate conversation. This slide establishes range, not depth.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5 — INVESTMENT OPPORTUNITIES
Key message: We focus on four categories where we have consistent deal flow and on-the-ground expertise — not general brokerage.
IMPORTANT: Replace placeholder lines with actual current opportunities before each meeting. This makes the slide immediately actionable.
Adjust emphasis by audience:
- Immigration consultants: Lead with Category 01 (Athens GV).
- Wealth managers / family offices: Lead with Categories 02 and 03 (yield and hospitality).
- Relocation consultants: Category 03 and 04 (residential and regional).
Epirus Golden Visa threshold: €250,000 in designated lower-threshold zones. Confirm current qualifying zone status before each meeting.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6 — INVESTMENT SELECTION PROCESS
Key message: We don't present every asset we find. Properties go through a structured five-stage assessment before reaching your client.
This is the credibility slide — it answers: 'How do I know what you recommend is actually good?'
Key points:
- Legal review is step one, not an afterthought. Problematic assets are eliminated before financial analysis.
- Exit strategy is built into every assessment from day one — relevant for clients who want liquidity optionality.
- Financial modelling includes both conservative and optimistic scenarios.
For family offices: ROI/ROE modelling and exit analysis are worth discussing in more depth separately.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7 — LOCAL NETWORK
Key message: We don't just find properties — we coordinate an entire support ecosystem around each transaction.
This is especially reassuring for advisors whose clients have had bad experiences coordinating multiple advisors in foreign markets.
For private bankers: the single-point-of-contact model reduces client anxiety significantly. Your client receives coordinated updates, not fragmented communication from five advisors.
For relocation consultants: property management and legal network remain engaged post-acquisition — the relationship continues after completion.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8 — WHY ADVISORS PARTNER WITH US
Key message: This slide is entirely about the advisor's experience — not the client's. What does it mean to work with us as a professional partner?
The core promise: we make advisors look good in front of their clients.
For private bankers: 'Transparent communication' and 'Single point of contact' are the differentiators. Your client expects you to know what's happening — we make that easy.
For immigration consultants: 'Off-market pipeline' and the underlying GV compliance depth are the most relevant value drivers.
If possible, personalise one of the five points with a specific example or scenario relevant to this advisor before the meeting.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9 — TYPICAL CLIENT PROFILES
Key message: We are flexible — the investment thesis can vary, but we have relevant expertise for each profile type.
Use this as a mirror: 'Do any of these look like clients you are working with right now?'
IMPORTANT: Replace placeholder lines with a real, current opportunity for the relevant profile before each meeting. This makes the slide immediately actionable rather than theoretical.
Profile A → immigration consultants and wealth managers with citizenship/residency clients.
Profile B → family offices, HNW clients with operating asset interest.
Profile C → private bankers and wealth managers with income-portfolio clients seeking yield diversification.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10 — HOW COOPERATION WORKS
Key message: The process is clear. The advisor's role is introduction only — we handle everything after.
Step 01 is highlighted (gold-filled circle) to signal: this is where the value exchange begins — your introduction is where the collaboration starts.
Emphasise the boundary of the client relationship: we never position ourselves as a competing advisor to your client. You remain their trusted point of contact; we are Greece-side execution.
This slide naturally opens the referral arrangement conversation — use it as the transition.
For GV-focused advisors: the discovery call (Step 03) includes GV eligibility assessment and timeline planning.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11 — NEXT STEPS
Key message: The call to action is soft and collaborative — you are proposing a conversation, not asking for a commitment.
Offer one of three paths:
1. Partnership discussion: for advisors interested but not yet ready to introduce a client.
2. Client introduction: for advisors with an active prospect right now.
3. Explore opportunities: for advisors who want to see what is available before committing to a collaboration.
Close with: 'Which of these feels like the right starting point for you?'
Leave-behind: this deck as PDF + contact card.
Follow-up: within 24 hours with a brief email summarising the conversation and the agreed next step.
NOTE: 'Product Manager' is the internal title for Natalia Prudkaya. For advisor audiences with a financial services background, consider using 'Investor Relations &amp; Product' if preferred.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" cy="5143500"/>
          </a:xfrm>
          <a:prstGeom prst="rect">
            <a:avLst/>
          </a:prstGeom>
          <a:solidFill>
            <a:srgbClr val="B8924A"/>
          </a:solidFill>
          <a:ln w="12700">
            <a:solidFill>
              <a:srgbClr val="B892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262623"/>
          </a:solidFill>
          <a:ln w="12700">
            <a:solidFill>
              <a:srgbClr val="262623"/>
            </a:solidFill>
            <a:prstDash val="solid"/>
          </a:ln>
        </p:spPr>
      </p:sp>
      <p:pic>
        <p:nvPicPr>
          <p:cNvPr id="4" name="Image 0" descr="C:\Users\nprud\epirus-assets\site\images\logo-ligh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12280" y="457200"/>
            <a:ext cx="1920240" cy="6400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32320" y="1371600"/>
            <a:ext cx="1097280" cy="18288"/>
          </a:xfrm>
          <a:prstGeom prst="rect">
            <a:avLst/>
          </a:prstGeom>
          <a:solidFill>
            <a:srgbClr val="2E2E2B"/>
          </a:solidFill>
          <a:ln w="12700">
            <a:solidFill>
              <a:srgbClr val="2E2E2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583680" y="15087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Epirus &amp; Athens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6583680" y="176479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Greece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7132320" y="2148840"/>
            <a:ext cx="1097280" cy="18288"/>
          </a:xfrm>
          <a:prstGeom prst="rect">
            <a:avLst/>
          </a:prstGeom>
          <a:solidFill>
            <a:srgbClr val="2E2E2B"/>
          </a:solidFill>
          <a:ln w="12700">
            <a:solidFill>
              <a:srgbClr val="2E2E2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675120" y="233172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Sourcing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Visa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Hospitality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Rental Management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457200" y="731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250" kern="0" dirty="0">
                <a:solidFill>
                  <a:srgbClr val="B89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OVERVIEW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457200" y="960120"/>
            <a:ext cx="5943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0" dirty="0">
                <a:solidFill>
                  <a:srgbClr val="F0EBE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Epirus Assets</a:t>
            </a:r>
            <a:endParaRPr lang="en-US" sz="6600" dirty="0"/>
          </a:p>
        </p:txBody>
      </p:sp>
      <p:sp>
        <p:nvSpPr>
          <p:cNvPr id="12" name="Text 9"/>
          <p:cNvSpPr/>
          <p:nvPr/>
        </p:nvSpPr>
        <p:spPr>
          <a:xfrm>
            <a:off x="457200" y="2212848"/>
            <a:ext cx="5943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i="1" dirty="0">
                <a:solidFill>
                  <a:srgbClr val="B89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Trusted Real Estate &amp;</a:t>
            </a:r>
            <a:endParaRPr lang="en-US" sz="2100" dirty="0"/>
          </a:p>
          <a:p>
            <a:pPr algn="l" indent="0" marL="0">
              <a:buNone/>
            </a:pPr>
            <a:r>
              <a:rPr lang="en-US" sz="2100" i="1" dirty="0">
                <a:solidFill>
                  <a:srgbClr val="B89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Investment Partner in Greece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457200" y="3200400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9B96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source, structure, and support real estate investments in Greece —</a:t>
            </a:r>
            <a:endParaRPr lang="en-US" sz="1100" dirty="0"/>
          </a:p>
          <a:p>
            <a:pPr algn="l" indent="0" marL="0">
              <a:buNone/>
            </a:pPr>
            <a:r>
              <a:rPr lang="en-US" sz="1100" i="1" dirty="0">
                <a:solidFill>
                  <a:srgbClr val="9B96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 your clients can invest with confidence without navigating the market alone.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57200" y="4041648"/>
            <a:ext cx="5943600" cy="22860"/>
          </a:xfrm>
          <a:prstGeom prst="rect">
            <a:avLst/>
          </a:prstGeom>
          <a:solidFill>
            <a:srgbClr val="B8924A"/>
          </a:solidFill>
          <a:ln w="12700">
            <a:solidFill>
              <a:srgbClr val="B8924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7200" y="415137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30" kern="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Wealth Managers · Private Bankers · Family Office Advisors · Immigration Consultants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" cy="5143500"/>
          </a:xfrm>
          <a:prstGeom prst="rect">
            <a:avLst/>
          </a:prstGeom>
          <a:solidFill>
            <a:srgbClr val="B8924A"/>
          </a:solidFill>
          <a:ln w="12700">
            <a:solidFill>
              <a:srgbClr val="B892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250" kern="0" dirty="0">
                <a:solidFill>
                  <a:srgbClr val="B89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INVESTMENT CONTEXT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1C1C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Greece Today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4837176"/>
            <a:ext cx="8229600" cy="10973"/>
          </a:xfrm>
          <a:prstGeom prst="rect">
            <a:avLst/>
          </a:prstGeom>
          <a:solidFill>
            <a:srgbClr val="E8E2D8"/>
          </a:solidFill>
          <a:ln w="12700">
            <a:solidFill>
              <a:srgbClr val="E8E2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855464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100" kern="0" dirty="0">
                <a:solidFill>
                  <a:srgbClr val="7A7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EPIRUS ASSETS  ·  PARTNER OVERVIEW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321040" y="485546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A7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457200" y="1325880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B89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+20%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457200" y="1938528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A7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tourism growth,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A7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national averages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331720" y="1325880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B89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#1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2331720" y="1938528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A7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welcoming destination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A7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Greece (Booking.com 2026)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7200" y="2834640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B89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 mo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457200" y="3447288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A7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Year-round operating season —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A7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distinct demand windows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331720" y="2834640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B89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€250K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2331720" y="3447288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A7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Visa entry threshold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A7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Epirus (vs €800K in Athens)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297680" y="1234440"/>
            <a:ext cx="18288" cy="3291840"/>
          </a:xfrm>
          <a:prstGeom prst="rect">
            <a:avLst/>
          </a:prstGeom>
          <a:solidFill>
            <a:srgbClr val="E8E2D8"/>
          </a:solidFill>
          <a:ln w="12700">
            <a:solidFill>
              <a:srgbClr val="E8E2D8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62272" y="1307592"/>
            <a:ext cx="274320" cy="27432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4828032" y="12344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Tourism momentum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4828032" y="150876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A7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Greece welcomed record visitor numbers. Epirus tourism grows at +20% annually — ahead of national averages and driven by rising connectivity.</a:t>
            </a:r>
            <a:endParaRPr lang="en-US" sz="950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2272" y="2130552"/>
            <a:ext cx="274320" cy="27432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4828032" y="20574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demand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4828032" y="233172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A7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Buyers from the US, UK, Middle East, and UAE are actively acquiring. Demand is diversifying beyond seasonal holiday use into year-round investment.</a:t>
            </a:r>
            <a:endParaRPr lang="en-US" sz="950" dirty="0"/>
          </a:p>
        </p:txBody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2272" y="2953512"/>
            <a:ext cx="274320" cy="27432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4828032" y="28803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Mediterranean location</a:t>
            </a:r>
            <a:endParaRPr lang="en-US" sz="1050" dirty="0"/>
          </a:p>
        </p:txBody>
      </p:sp>
      <p:sp>
        <p:nvSpPr>
          <p:cNvPr id="25" name="Text 20"/>
          <p:cNvSpPr/>
          <p:nvPr/>
        </p:nvSpPr>
        <p:spPr>
          <a:xfrm>
            <a:off x="4828032" y="315468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A7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flights from London, Berlin, and Vienna. Port gateway to Italy. Highways connecting Central Europe to the Ionian coast.</a:t>
            </a:r>
            <a:endParaRPr lang="en-US" sz="950" dirty="0"/>
          </a:p>
        </p:txBody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2272" y="3776472"/>
            <a:ext cx="274320" cy="27432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4828032" y="37033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Golden Visa programme</a:t>
            </a:r>
            <a:endParaRPr lang="en-US" sz="1050" dirty="0"/>
          </a:p>
        </p:txBody>
      </p:sp>
      <p:sp>
        <p:nvSpPr>
          <p:cNvPr id="28" name="Text 22"/>
          <p:cNvSpPr/>
          <p:nvPr/>
        </p:nvSpPr>
        <p:spPr>
          <a:xfrm>
            <a:off x="4828032" y="397764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A7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of Europe's most accessible residency-by-investment pathways. Epirus threshold: €250K — substantially lower than Athens and the islands.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1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" cy="5143500"/>
          </a:xfrm>
          <a:prstGeom prst="rect">
            <a:avLst/>
          </a:prstGeom>
          <a:solidFill>
            <a:srgbClr val="B8924A"/>
          </a:solidFill>
          <a:ln w="12700">
            <a:solidFill>
              <a:srgbClr val="B892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250" kern="0" dirty="0">
                <a:solidFill>
                  <a:srgbClr val="B89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WE SOLVE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F0EBE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International Investors Face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4837176"/>
            <a:ext cx="8229600" cy="10973"/>
          </a:xfrm>
          <a:prstGeom prst="rect">
            <a:avLst/>
          </a:prstGeom>
          <a:solidFill>
            <a:srgbClr val="2E2E2B"/>
          </a:solidFill>
          <a:ln w="12700">
            <a:solidFill>
              <a:srgbClr val="2E2E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855464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100" kern="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EPIRUS ASSETS  ·  PARTNER OVERVIEW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321040" y="485546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457200" y="1261872"/>
            <a:ext cx="2560320" cy="1481328"/>
          </a:xfrm>
          <a:prstGeom prst="rect">
            <a:avLst/>
          </a:prstGeom>
          <a:solidFill>
            <a:srgbClr val="262623"/>
          </a:solidFill>
          <a:ln w="12700">
            <a:solidFill>
              <a:srgbClr val="2E2E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261872"/>
            <a:ext cx="2560320" cy="45720"/>
          </a:xfrm>
          <a:prstGeom prst="rect">
            <a:avLst/>
          </a:prstGeom>
          <a:solidFill>
            <a:srgbClr val="B8924A"/>
          </a:solidFill>
          <a:ln w="12700">
            <a:solidFill>
              <a:srgbClr val="B8924A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26464"/>
            <a:ext cx="274320" cy="2743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24128" y="1408176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0EB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reliable local partner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40080" y="1828800"/>
            <a:ext cx="2240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trusted counterpart who understands both the local market and international client expectations.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200400" y="1261872"/>
            <a:ext cx="2560320" cy="1481328"/>
          </a:xfrm>
          <a:prstGeom prst="rect">
            <a:avLst/>
          </a:prstGeom>
          <a:solidFill>
            <a:srgbClr val="262623"/>
          </a:solidFill>
          <a:ln w="12700">
            <a:solidFill>
              <a:srgbClr val="2E2E2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200400" y="1261872"/>
            <a:ext cx="2560320" cy="45720"/>
          </a:xfrm>
          <a:prstGeom prst="rect">
            <a:avLst/>
          </a:prstGeom>
          <a:solidFill>
            <a:srgbClr val="B8924A"/>
          </a:solidFill>
          <a:ln w="12700">
            <a:solidFill>
              <a:srgbClr val="B8924A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1426464"/>
            <a:ext cx="274320" cy="2743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767328" y="1408176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0EB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off-market access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3383280" y="1828800"/>
            <a:ext cx="2240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best opportunities rarely appear on listing portals. Without local relationships, they remain invisible.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5943600" y="1261872"/>
            <a:ext cx="2560320" cy="1481328"/>
          </a:xfrm>
          <a:prstGeom prst="rect">
            <a:avLst/>
          </a:prstGeom>
          <a:solidFill>
            <a:srgbClr val="262623"/>
          </a:solidFill>
          <a:ln w="12700">
            <a:solidFill>
              <a:srgbClr val="2E2E2B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5943600" y="1261872"/>
            <a:ext cx="2560320" cy="45720"/>
          </a:xfrm>
          <a:prstGeom prst="rect">
            <a:avLst/>
          </a:prstGeom>
          <a:solidFill>
            <a:srgbClr val="B8924A"/>
          </a:solidFill>
          <a:ln w="12700">
            <a:solidFill>
              <a:srgbClr val="B8924A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426464"/>
            <a:ext cx="274320" cy="27432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510528" y="1408176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0EB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&amp; regulatory complexity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6126480" y="1828800"/>
            <a:ext cx="2240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Greek property law, notarial process, and tax structures require specialist navigation at every stage.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457200" y="2834640"/>
            <a:ext cx="2560320" cy="1481328"/>
          </a:xfrm>
          <a:prstGeom prst="rect">
            <a:avLst/>
          </a:prstGeom>
          <a:solidFill>
            <a:srgbClr val="262623"/>
          </a:solidFill>
          <a:ln w="12700">
            <a:solidFill>
              <a:srgbClr val="2E2E2B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457200" y="2834640"/>
            <a:ext cx="2560320" cy="45720"/>
          </a:xfrm>
          <a:prstGeom prst="rect">
            <a:avLst/>
          </a:prstGeom>
          <a:solidFill>
            <a:srgbClr val="B8924A"/>
          </a:solidFill>
          <a:ln w="12700">
            <a:solidFill>
              <a:srgbClr val="B8924A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999232"/>
            <a:ext cx="274320" cy="27432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024128" y="2980944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0EB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project management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640080" y="3401568"/>
            <a:ext cx="2240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Renovations, compliance, and handovers are nearly impossible to manage from abroad without a local anchor.</a:t>
            </a:r>
            <a:endParaRPr lang="en-US" sz="900" dirty="0"/>
          </a:p>
        </p:txBody>
      </p:sp>
      <p:sp>
        <p:nvSpPr>
          <p:cNvPr id="28" name="Shape 22"/>
          <p:cNvSpPr/>
          <p:nvPr/>
        </p:nvSpPr>
        <p:spPr>
          <a:xfrm>
            <a:off x="3200400" y="2834640"/>
            <a:ext cx="2560320" cy="1481328"/>
          </a:xfrm>
          <a:prstGeom prst="rect">
            <a:avLst/>
          </a:prstGeom>
          <a:solidFill>
            <a:srgbClr val="262623"/>
          </a:solidFill>
          <a:ln w="12700">
            <a:solidFill>
              <a:srgbClr val="2E2E2B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3200400" y="2834640"/>
            <a:ext cx="2560320" cy="45720"/>
          </a:xfrm>
          <a:prstGeom prst="rect">
            <a:avLst/>
          </a:prstGeom>
          <a:solidFill>
            <a:srgbClr val="B8924A"/>
          </a:solidFill>
          <a:ln w="12700">
            <a:solidFill>
              <a:srgbClr val="B8924A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3280" y="2999232"/>
            <a:ext cx="274320" cy="27432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3767328" y="2980944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0EB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Visa compliance</a:t>
            </a:r>
            <a:endParaRPr lang="en-US" sz="1000" dirty="0"/>
          </a:p>
        </p:txBody>
      </p:sp>
      <p:sp>
        <p:nvSpPr>
          <p:cNvPr id="32" name="Text 25"/>
          <p:cNvSpPr/>
          <p:nvPr/>
        </p:nvSpPr>
        <p:spPr>
          <a:xfrm>
            <a:off x="3383280" y="3401568"/>
            <a:ext cx="2240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Qualifying asset selection, application timelines, and documentation require precise, experienced coordination.</a:t>
            </a:r>
            <a:endParaRPr lang="en-US" sz="900" dirty="0"/>
          </a:p>
        </p:txBody>
      </p:sp>
      <p:sp>
        <p:nvSpPr>
          <p:cNvPr id="33" name="Shape 26"/>
          <p:cNvSpPr/>
          <p:nvPr/>
        </p:nvSpPr>
        <p:spPr>
          <a:xfrm>
            <a:off x="5943600" y="2834640"/>
            <a:ext cx="2560320" cy="1481328"/>
          </a:xfrm>
          <a:prstGeom prst="rect">
            <a:avLst/>
          </a:prstGeom>
          <a:solidFill>
            <a:srgbClr val="262623"/>
          </a:solidFill>
          <a:ln w="12700">
            <a:solidFill>
              <a:srgbClr val="2E2E2B"/>
            </a:solidFill>
            <a:prstDash val="solid"/>
          </a:ln>
        </p:spPr>
      </p:sp>
      <p:sp>
        <p:nvSpPr>
          <p:cNvPr id="34" name="Shape 27"/>
          <p:cNvSpPr/>
          <p:nvPr/>
        </p:nvSpPr>
        <p:spPr>
          <a:xfrm>
            <a:off x="5943600" y="2834640"/>
            <a:ext cx="2560320" cy="45720"/>
          </a:xfrm>
          <a:prstGeom prst="rect">
            <a:avLst/>
          </a:prstGeom>
          <a:solidFill>
            <a:srgbClr val="B8924A"/>
          </a:solidFill>
          <a:ln w="12700">
            <a:solidFill>
              <a:srgbClr val="B8924A"/>
            </a:solidFill>
            <a:prstDash val="solid"/>
          </a:ln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6480" y="2999232"/>
            <a:ext cx="274320" cy="274320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6510528" y="2980944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0EB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after acquisition</a:t>
            </a:r>
            <a:endParaRPr lang="en-US" sz="1000" dirty="0"/>
          </a:p>
        </p:txBody>
      </p:sp>
      <p:sp>
        <p:nvSpPr>
          <p:cNvPr id="37" name="Text 29"/>
          <p:cNvSpPr/>
          <p:nvPr/>
        </p:nvSpPr>
        <p:spPr>
          <a:xfrm>
            <a:off x="6126480" y="3401568"/>
            <a:ext cx="2240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management, rental continuity, and maintenance are frequently overlooked at the point of purchase.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" cy="5143500"/>
          </a:xfrm>
          <a:prstGeom prst="rect">
            <a:avLst/>
          </a:prstGeom>
          <a:solidFill>
            <a:srgbClr val="B8924A"/>
          </a:solidFill>
          <a:ln w="12700">
            <a:solidFill>
              <a:srgbClr val="B892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250" kern="0" dirty="0">
                <a:solidFill>
                  <a:srgbClr val="B89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SERVICES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1C1C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Full Investment Support Journey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4837176"/>
            <a:ext cx="8229600" cy="10973"/>
          </a:xfrm>
          <a:prstGeom prst="rect">
            <a:avLst/>
          </a:prstGeom>
          <a:solidFill>
            <a:srgbClr val="E8E2D8"/>
          </a:solidFill>
          <a:ln w="12700">
            <a:solidFill>
              <a:srgbClr val="E8E2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855464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100" kern="0" dirty="0">
                <a:solidFill>
                  <a:srgbClr val="7A7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EPIRUS ASSETS  ·  PARTNER OVERVIEW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321040" y="485546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A7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457200" y="1207008"/>
            <a:ext cx="187452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2D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874520" y="12801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B89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40080" y="1389888"/>
            <a:ext cx="457200" cy="457200"/>
          </a:xfrm>
          <a:prstGeom prst="ellipse">
            <a:avLst/>
          </a:prstGeom>
          <a:solidFill>
            <a:srgbClr val="FBF6EE"/>
          </a:solidFill>
          <a:ln w="12700">
            <a:solidFill>
              <a:srgbClr val="E8E2D8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81328"/>
            <a:ext cx="274320" cy="2743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94360" y="1938528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</a:t>
            </a:r>
            <a:endParaRPr lang="en-US" sz="950" dirty="0"/>
          </a:p>
          <a:p>
            <a:pPr algn="l" indent="0" marL="0">
              <a:buNone/>
            </a:pPr>
            <a:r>
              <a:rPr lang="en-US" sz="950" b="1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Sourcing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594360" y="256032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A7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On-market &amp; off-market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2441448" y="1207008"/>
            <a:ext cx="187452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2D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3858768" y="12801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B89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2624328" y="1389888"/>
            <a:ext cx="457200" cy="457200"/>
          </a:xfrm>
          <a:prstGeom prst="ellipse">
            <a:avLst/>
          </a:prstGeom>
          <a:solidFill>
            <a:srgbClr val="FBF6EE"/>
          </a:solidFill>
          <a:ln w="12700">
            <a:solidFill>
              <a:srgbClr val="E8E2D8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5768" y="1481328"/>
            <a:ext cx="274320" cy="27432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2578608" y="1938528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Off-Market</a:t>
            </a:r>
            <a:endParaRPr lang="en-US" sz="950" dirty="0"/>
          </a:p>
          <a:p>
            <a:pPr algn="l" indent="0" marL="0">
              <a:buNone/>
            </a:pPr>
            <a:r>
              <a:rPr lang="en-US" sz="950" b="1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Opportunities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2578608" y="256032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A7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Pre-market pipeline</a:t>
            </a:r>
            <a:endParaRPr lang="en-US" sz="800" dirty="0"/>
          </a:p>
        </p:txBody>
      </p:sp>
      <p:sp>
        <p:nvSpPr>
          <p:cNvPr id="20" name="Shape 16"/>
          <p:cNvSpPr/>
          <p:nvPr/>
        </p:nvSpPr>
        <p:spPr>
          <a:xfrm>
            <a:off x="4425696" y="1207008"/>
            <a:ext cx="187452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2D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Text 17"/>
          <p:cNvSpPr/>
          <p:nvPr/>
        </p:nvSpPr>
        <p:spPr>
          <a:xfrm>
            <a:off x="5843016" y="12801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B89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Shape 18"/>
          <p:cNvSpPr/>
          <p:nvPr/>
        </p:nvSpPr>
        <p:spPr>
          <a:xfrm>
            <a:off x="4608576" y="1389888"/>
            <a:ext cx="457200" cy="457200"/>
          </a:xfrm>
          <a:prstGeom prst="ellipse">
            <a:avLst/>
          </a:prstGeom>
          <a:solidFill>
            <a:srgbClr val="FBF6EE"/>
          </a:solidFill>
          <a:ln w="12700">
            <a:solidFill>
              <a:srgbClr val="E8E2D8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0016" y="1481328"/>
            <a:ext cx="274320" cy="27432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4562856" y="1938528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Visa</a:t>
            </a:r>
            <a:endParaRPr lang="en-US" sz="950" dirty="0"/>
          </a:p>
          <a:p>
            <a:pPr algn="l" indent="0" marL="0">
              <a:buNone/>
            </a:pPr>
            <a:r>
              <a:rPr lang="en-US" sz="950" b="1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</a:t>
            </a:r>
            <a:endParaRPr lang="en-US" sz="950" dirty="0"/>
          </a:p>
        </p:txBody>
      </p:sp>
      <p:sp>
        <p:nvSpPr>
          <p:cNvPr id="25" name="Text 20"/>
          <p:cNvSpPr/>
          <p:nvPr/>
        </p:nvSpPr>
        <p:spPr>
          <a:xfrm>
            <a:off x="4562856" y="256032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A7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GV projects</a:t>
            </a:r>
            <a:endParaRPr lang="en-US" sz="800" dirty="0"/>
          </a:p>
        </p:txBody>
      </p:sp>
      <p:sp>
        <p:nvSpPr>
          <p:cNvPr id="26" name="Shape 21"/>
          <p:cNvSpPr/>
          <p:nvPr/>
        </p:nvSpPr>
        <p:spPr>
          <a:xfrm>
            <a:off x="6409944" y="1207008"/>
            <a:ext cx="187452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2D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Text 22"/>
          <p:cNvSpPr/>
          <p:nvPr/>
        </p:nvSpPr>
        <p:spPr>
          <a:xfrm>
            <a:off x="7827264" y="12801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B89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8" name="Shape 23"/>
          <p:cNvSpPr/>
          <p:nvPr/>
        </p:nvSpPr>
        <p:spPr>
          <a:xfrm>
            <a:off x="6592824" y="1389888"/>
            <a:ext cx="457200" cy="457200"/>
          </a:xfrm>
          <a:prstGeom prst="ellipse">
            <a:avLst/>
          </a:prstGeom>
          <a:solidFill>
            <a:srgbClr val="FBF6EE"/>
          </a:solidFill>
          <a:ln w="12700">
            <a:solidFill>
              <a:srgbClr val="E8E2D8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4264" y="1481328"/>
            <a:ext cx="274320" cy="27432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6547104" y="1938528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Diligence</a:t>
            </a:r>
            <a:endParaRPr lang="en-US" sz="950" dirty="0"/>
          </a:p>
          <a:p>
            <a:pPr algn="l" indent="0" marL="0">
              <a:buNone/>
            </a:pPr>
            <a:r>
              <a:rPr lang="en-US" sz="950" b="1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Coordination</a:t>
            </a:r>
            <a:endParaRPr lang="en-US" sz="950" dirty="0"/>
          </a:p>
        </p:txBody>
      </p:sp>
      <p:sp>
        <p:nvSpPr>
          <p:cNvPr id="31" name="Text 25"/>
          <p:cNvSpPr/>
          <p:nvPr/>
        </p:nvSpPr>
        <p:spPr>
          <a:xfrm>
            <a:off x="6547104" y="256032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A7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Legal, financial, technical</a:t>
            </a:r>
            <a:endParaRPr lang="en-US" sz="800" dirty="0"/>
          </a:p>
        </p:txBody>
      </p:sp>
      <p:sp>
        <p:nvSpPr>
          <p:cNvPr id="32" name="Shape 26"/>
          <p:cNvSpPr/>
          <p:nvPr/>
        </p:nvSpPr>
        <p:spPr>
          <a:xfrm>
            <a:off x="457200" y="2944368"/>
            <a:ext cx="187452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2D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33" name="Text 27"/>
          <p:cNvSpPr/>
          <p:nvPr/>
        </p:nvSpPr>
        <p:spPr>
          <a:xfrm>
            <a:off x="1874520" y="30175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B89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sp>
        <p:nvSpPr>
          <p:cNvPr id="34" name="Shape 28"/>
          <p:cNvSpPr/>
          <p:nvPr/>
        </p:nvSpPr>
        <p:spPr>
          <a:xfrm>
            <a:off x="640080" y="3127248"/>
            <a:ext cx="457200" cy="457200"/>
          </a:xfrm>
          <a:prstGeom prst="ellipse">
            <a:avLst/>
          </a:prstGeom>
          <a:solidFill>
            <a:srgbClr val="FBF6EE"/>
          </a:solidFill>
          <a:ln w="12700">
            <a:solidFill>
              <a:srgbClr val="E8E2D8"/>
            </a:solidFill>
            <a:prstDash val="solid"/>
          </a:ln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218688"/>
            <a:ext cx="274320" cy="274320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594360" y="3675888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</a:t>
            </a:r>
            <a:endParaRPr lang="en-US" sz="950" dirty="0"/>
          </a:p>
          <a:p>
            <a:pPr algn="l" indent="0" marL="0">
              <a:buNone/>
            </a:pPr>
            <a:r>
              <a:rPr lang="en-US" sz="950" b="1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</a:t>
            </a:r>
            <a:endParaRPr lang="en-US" sz="950" dirty="0"/>
          </a:p>
        </p:txBody>
      </p:sp>
      <p:sp>
        <p:nvSpPr>
          <p:cNvPr id="37" name="Text 30"/>
          <p:cNvSpPr/>
          <p:nvPr/>
        </p:nvSpPr>
        <p:spPr>
          <a:xfrm>
            <a:off x="594360" y="429768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A7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to completion</a:t>
            </a:r>
            <a:endParaRPr lang="en-US" sz="800" dirty="0"/>
          </a:p>
        </p:txBody>
      </p:sp>
      <p:sp>
        <p:nvSpPr>
          <p:cNvPr id="38" name="Shape 31"/>
          <p:cNvSpPr/>
          <p:nvPr/>
        </p:nvSpPr>
        <p:spPr>
          <a:xfrm>
            <a:off x="2441448" y="2944368"/>
            <a:ext cx="187452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2D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39" name="Text 32"/>
          <p:cNvSpPr/>
          <p:nvPr/>
        </p:nvSpPr>
        <p:spPr>
          <a:xfrm>
            <a:off x="3858768" y="30175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B89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800" dirty="0"/>
          </a:p>
        </p:txBody>
      </p:sp>
      <p:sp>
        <p:nvSpPr>
          <p:cNvPr id="40" name="Shape 33"/>
          <p:cNvSpPr/>
          <p:nvPr/>
        </p:nvSpPr>
        <p:spPr>
          <a:xfrm>
            <a:off x="2624328" y="3127248"/>
            <a:ext cx="457200" cy="457200"/>
          </a:xfrm>
          <a:prstGeom prst="ellipse">
            <a:avLst/>
          </a:prstGeom>
          <a:solidFill>
            <a:srgbClr val="FBF6EE"/>
          </a:solidFill>
          <a:ln w="12700">
            <a:solidFill>
              <a:srgbClr val="E8E2D8"/>
            </a:solidFill>
            <a:prstDash val="solid"/>
          </a:ln>
        </p:spPr>
      </p:sp>
      <p:pic>
        <p:nvPicPr>
          <p:cNvPr id="4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15768" y="3218688"/>
            <a:ext cx="274320" cy="274320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2578608" y="3675888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Renovation</a:t>
            </a:r>
            <a:endParaRPr lang="en-US" sz="950" dirty="0"/>
          </a:p>
          <a:p>
            <a:pPr algn="l" indent="0" marL="0">
              <a:buNone/>
            </a:pPr>
            <a:r>
              <a:rPr lang="en-US" sz="950" b="1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Supervision</a:t>
            </a:r>
            <a:endParaRPr lang="en-US" sz="950" dirty="0"/>
          </a:p>
        </p:txBody>
      </p:sp>
      <p:sp>
        <p:nvSpPr>
          <p:cNvPr id="43" name="Text 35"/>
          <p:cNvSpPr/>
          <p:nvPr/>
        </p:nvSpPr>
        <p:spPr>
          <a:xfrm>
            <a:off x="2578608" y="429768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A7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On-site project oversight</a:t>
            </a:r>
            <a:endParaRPr lang="en-US" sz="800" dirty="0"/>
          </a:p>
        </p:txBody>
      </p:sp>
      <p:sp>
        <p:nvSpPr>
          <p:cNvPr id="44" name="Shape 36"/>
          <p:cNvSpPr/>
          <p:nvPr/>
        </p:nvSpPr>
        <p:spPr>
          <a:xfrm>
            <a:off x="4425696" y="2944368"/>
            <a:ext cx="187452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2D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45" name="Text 37"/>
          <p:cNvSpPr/>
          <p:nvPr/>
        </p:nvSpPr>
        <p:spPr>
          <a:xfrm>
            <a:off x="5843016" y="30175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B89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800" dirty="0"/>
          </a:p>
        </p:txBody>
      </p:sp>
      <p:sp>
        <p:nvSpPr>
          <p:cNvPr id="46" name="Shape 38"/>
          <p:cNvSpPr/>
          <p:nvPr/>
        </p:nvSpPr>
        <p:spPr>
          <a:xfrm>
            <a:off x="4608576" y="3127248"/>
            <a:ext cx="457200" cy="457200"/>
          </a:xfrm>
          <a:prstGeom prst="ellipse">
            <a:avLst/>
          </a:prstGeom>
          <a:solidFill>
            <a:srgbClr val="FBF6EE"/>
          </a:solidFill>
          <a:ln w="12700">
            <a:solidFill>
              <a:srgbClr val="E8E2D8"/>
            </a:solidFill>
            <a:prstDash val="solid"/>
          </a:ln>
        </p:spPr>
      </p:sp>
      <p:pic>
        <p:nvPicPr>
          <p:cNvPr id="4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00016" y="3218688"/>
            <a:ext cx="274320" cy="274320"/>
          </a:xfrm>
          <a:prstGeom prst="rect">
            <a:avLst/>
          </a:prstGeom>
        </p:spPr>
      </p:pic>
      <p:sp>
        <p:nvSpPr>
          <p:cNvPr id="48" name="Text 39"/>
          <p:cNvSpPr/>
          <p:nvPr/>
        </p:nvSpPr>
        <p:spPr>
          <a:xfrm>
            <a:off x="4562856" y="3675888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</a:t>
            </a:r>
            <a:endParaRPr lang="en-US" sz="950" dirty="0"/>
          </a:p>
          <a:p>
            <a:pPr algn="l" indent="0" marL="0">
              <a:buNone/>
            </a:pPr>
            <a:r>
              <a:rPr lang="en-US" sz="950" b="1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950" dirty="0"/>
          </a:p>
        </p:txBody>
      </p:sp>
      <p:sp>
        <p:nvSpPr>
          <p:cNvPr id="49" name="Text 40"/>
          <p:cNvSpPr/>
          <p:nvPr/>
        </p:nvSpPr>
        <p:spPr>
          <a:xfrm>
            <a:off x="4562856" y="429768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A7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care &amp; compliance</a:t>
            </a:r>
            <a:endParaRPr lang="en-US" sz="800" dirty="0"/>
          </a:p>
        </p:txBody>
      </p:sp>
      <p:sp>
        <p:nvSpPr>
          <p:cNvPr id="50" name="Shape 41"/>
          <p:cNvSpPr/>
          <p:nvPr/>
        </p:nvSpPr>
        <p:spPr>
          <a:xfrm>
            <a:off x="6409944" y="2944368"/>
            <a:ext cx="187452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2D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51" name="Text 42"/>
          <p:cNvSpPr/>
          <p:nvPr/>
        </p:nvSpPr>
        <p:spPr>
          <a:xfrm>
            <a:off x="7827264" y="30175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B89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1800" dirty="0"/>
          </a:p>
        </p:txBody>
      </p:sp>
      <p:sp>
        <p:nvSpPr>
          <p:cNvPr id="52" name="Shape 43"/>
          <p:cNvSpPr/>
          <p:nvPr/>
        </p:nvSpPr>
        <p:spPr>
          <a:xfrm>
            <a:off x="6592824" y="3127248"/>
            <a:ext cx="457200" cy="457200"/>
          </a:xfrm>
          <a:prstGeom prst="ellipse">
            <a:avLst/>
          </a:prstGeom>
          <a:solidFill>
            <a:srgbClr val="FBF6EE"/>
          </a:solidFill>
          <a:ln w="12700">
            <a:solidFill>
              <a:srgbClr val="E8E2D8"/>
            </a:solidFill>
            <a:prstDash val="solid"/>
          </a:ln>
        </p:spPr>
      </p:sp>
      <p:pic>
        <p:nvPicPr>
          <p:cNvPr id="5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84264" y="3218688"/>
            <a:ext cx="274320" cy="274320"/>
          </a:xfrm>
          <a:prstGeom prst="rect">
            <a:avLst/>
          </a:prstGeom>
        </p:spPr>
      </p:pic>
      <p:sp>
        <p:nvSpPr>
          <p:cNvPr id="54" name="Text 44"/>
          <p:cNvSpPr/>
          <p:nvPr/>
        </p:nvSpPr>
        <p:spPr>
          <a:xfrm>
            <a:off x="6547104" y="3675888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Rental</a:t>
            </a:r>
            <a:endParaRPr lang="en-US" sz="950" dirty="0"/>
          </a:p>
          <a:p>
            <a:pPr algn="l" indent="0" marL="0">
              <a:buNone/>
            </a:pPr>
            <a:r>
              <a:rPr lang="en-US" sz="950" b="1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950" dirty="0"/>
          </a:p>
        </p:txBody>
      </p:sp>
      <p:sp>
        <p:nvSpPr>
          <p:cNvPr id="55" name="Text 45"/>
          <p:cNvSpPr/>
          <p:nvPr/>
        </p:nvSpPr>
        <p:spPr>
          <a:xfrm>
            <a:off x="6547104" y="429768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A7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 optimisation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" cy="5143500"/>
          </a:xfrm>
          <a:prstGeom prst="rect">
            <a:avLst/>
          </a:prstGeom>
          <a:solidFill>
            <a:srgbClr val="B8924A"/>
          </a:solidFill>
          <a:ln w="12700">
            <a:solidFill>
              <a:srgbClr val="B892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250" kern="0" dirty="0">
                <a:solidFill>
                  <a:srgbClr val="B89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SOURCE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1C1C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Investment Opportunity Categories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4837176"/>
            <a:ext cx="8229600" cy="10973"/>
          </a:xfrm>
          <a:prstGeom prst="rect">
            <a:avLst/>
          </a:prstGeom>
          <a:solidFill>
            <a:srgbClr val="E8E2D8"/>
          </a:solidFill>
          <a:ln w="12700">
            <a:solidFill>
              <a:srgbClr val="E8E2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855464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100" kern="0" dirty="0">
                <a:solidFill>
                  <a:srgbClr val="7A7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EPIRUS ASSETS  ·  PARTNER OVERVIEW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321040" y="485546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A7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457200" y="1234440"/>
            <a:ext cx="39319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2D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234440"/>
            <a:ext cx="3931920" cy="45720"/>
          </a:xfrm>
          <a:prstGeom prst="rect">
            <a:avLst/>
          </a:prstGeom>
          <a:solidFill>
            <a:srgbClr val="B8924A"/>
          </a:solidFill>
          <a:ln w="12700">
            <a:solidFill>
              <a:srgbClr val="B8924A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99032"/>
            <a:ext cx="274320" cy="2743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24128" y="140817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150" kern="0" dirty="0">
                <a:solidFill>
                  <a:srgbClr val="B89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01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640080" y="169164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Athens Golden Visa Projects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40080" y="2039112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7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Qualifying residential and commercial assets. Entry from €250K in designated zones. Compliant structures, fully coordinated legal process.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640080" y="2825496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B89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[Placeholder: insert current GV project example]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4572000" y="1234440"/>
            <a:ext cx="39319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2D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572000" y="1234440"/>
            <a:ext cx="3931920" cy="45720"/>
          </a:xfrm>
          <a:prstGeom prst="rect">
            <a:avLst/>
          </a:prstGeom>
          <a:solidFill>
            <a:srgbClr val="B8924A"/>
          </a:solidFill>
          <a:ln w="12700">
            <a:solidFill>
              <a:srgbClr val="B8924A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99032"/>
            <a:ext cx="274320" cy="27432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138928" y="140817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150" kern="0" dirty="0">
                <a:solidFill>
                  <a:srgbClr val="B89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02</a:t>
            </a:r>
            <a:endParaRPr lang="en-US" sz="750" dirty="0"/>
          </a:p>
        </p:txBody>
      </p:sp>
      <p:sp>
        <p:nvSpPr>
          <p:cNvPr id="19" name="Text 15"/>
          <p:cNvSpPr/>
          <p:nvPr/>
        </p:nvSpPr>
        <p:spPr>
          <a:xfrm>
            <a:off x="4754880" y="169164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Hospitality Investments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4754880" y="2039112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7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Boutique hotels, guesthouses, and aparthotels in Epirus. Year-round demand from Ioannina's corporate market and Zagori's eco-luxury tourism.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4754880" y="2825496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B89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[Placeholder: insert hospitality asset example]</a:t>
            </a:r>
            <a:endParaRPr lang="en-US" sz="800" dirty="0"/>
          </a:p>
        </p:txBody>
      </p:sp>
      <p:sp>
        <p:nvSpPr>
          <p:cNvPr id="22" name="Shape 18"/>
          <p:cNvSpPr/>
          <p:nvPr/>
        </p:nvSpPr>
        <p:spPr>
          <a:xfrm>
            <a:off x="457200" y="3291840"/>
            <a:ext cx="39319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2D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457200" y="3291840"/>
            <a:ext cx="3931920" cy="45720"/>
          </a:xfrm>
          <a:prstGeom prst="rect">
            <a:avLst/>
          </a:prstGeom>
          <a:solidFill>
            <a:srgbClr val="B8924A"/>
          </a:solidFill>
          <a:ln w="12700">
            <a:solidFill>
              <a:srgbClr val="B8924A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456432"/>
            <a:ext cx="274320" cy="27432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024128" y="346557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150" kern="0" dirty="0">
                <a:solidFill>
                  <a:srgbClr val="B89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03</a:t>
            </a:r>
            <a:endParaRPr lang="en-US" sz="750" dirty="0"/>
          </a:p>
        </p:txBody>
      </p:sp>
      <p:sp>
        <p:nvSpPr>
          <p:cNvPr id="26" name="Text 21"/>
          <p:cNvSpPr/>
          <p:nvPr/>
        </p:nvSpPr>
        <p:spPr>
          <a:xfrm>
            <a:off x="640080" y="374904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Residential Income Properties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640080" y="4096512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7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Income-generating residential assets in Ioannina and coastal Epirus. Target yields 5–10%. Value-add renovation potential where applicable.</a:t>
            </a:r>
            <a:endParaRPr lang="en-US" sz="900" dirty="0"/>
          </a:p>
        </p:txBody>
      </p:sp>
      <p:sp>
        <p:nvSpPr>
          <p:cNvPr id="28" name="Text 23"/>
          <p:cNvSpPr/>
          <p:nvPr/>
        </p:nvSpPr>
        <p:spPr>
          <a:xfrm>
            <a:off x="640080" y="4882896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B89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[Placeholder: insert residential income example]</a:t>
            </a:r>
            <a:endParaRPr lang="en-US" sz="800" dirty="0"/>
          </a:p>
        </p:txBody>
      </p:sp>
      <p:sp>
        <p:nvSpPr>
          <p:cNvPr id="29" name="Shape 24"/>
          <p:cNvSpPr/>
          <p:nvPr/>
        </p:nvSpPr>
        <p:spPr>
          <a:xfrm>
            <a:off x="4572000" y="3291840"/>
            <a:ext cx="39319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2D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4572000" y="3291840"/>
            <a:ext cx="3931920" cy="45720"/>
          </a:xfrm>
          <a:prstGeom prst="rect">
            <a:avLst/>
          </a:prstGeom>
          <a:solidFill>
            <a:srgbClr val="B8924A"/>
          </a:solidFill>
          <a:ln w="12700">
            <a:solidFill>
              <a:srgbClr val="B8924A"/>
            </a:solidFill>
            <a:prstDash val="solid"/>
          </a:ln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3456432"/>
            <a:ext cx="274320" cy="274320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5138928" y="346557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150" kern="0" dirty="0">
                <a:solidFill>
                  <a:srgbClr val="B89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04</a:t>
            </a:r>
            <a:endParaRPr lang="en-US" sz="750" dirty="0"/>
          </a:p>
        </p:txBody>
      </p:sp>
      <p:sp>
        <p:nvSpPr>
          <p:cNvPr id="33" name="Text 27"/>
          <p:cNvSpPr/>
          <p:nvPr/>
        </p:nvSpPr>
        <p:spPr>
          <a:xfrm>
            <a:off x="4754880" y="374904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Opportunities — Epirus</a:t>
            </a:r>
            <a:endParaRPr lang="en-US" sz="1200" dirty="0"/>
          </a:p>
        </p:txBody>
      </p:sp>
      <p:sp>
        <p:nvSpPr>
          <p:cNvPr id="34" name="Text 28"/>
          <p:cNvSpPr/>
          <p:nvPr/>
        </p:nvSpPr>
        <p:spPr>
          <a:xfrm>
            <a:off x="4754880" y="4096512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7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Off-market assets in Zagori, Sivota coastline, and Ioannina surrounds. Scarcity-driven appreciation potential. Early-mover entry points still available.</a:t>
            </a:r>
            <a:endParaRPr lang="en-US" sz="900" dirty="0"/>
          </a:p>
        </p:txBody>
      </p:sp>
      <p:sp>
        <p:nvSpPr>
          <p:cNvPr id="35" name="Text 29"/>
          <p:cNvSpPr/>
          <p:nvPr/>
        </p:nvSpPr>
        <p:spPr>
          <a:xfrm>
            <a:off x="4754880" y="4882896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B89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[Placeholder: insert regional opportunity example]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C1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" cy="5143500"/>
          </a:xfrm>
          <a:prstGeom prst="rect">
            <a:avLst/>
          </a:prstGeom>
          <a:solidFill>
            <a:srgbClr val="B8924A"/>
          </a:solidFill>
          <a:ln w="12700">
            <a:solidFill>
              <a:srgbClr val="B892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250" kern="0" dirty="0">
                <a:solidFill>
                  <a:srgbClr val="B89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ASSESS PROPERTIES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F0EBE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Investment Selection Process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4837176"/>
            <a:ext cx="8229600" cy="10973"/>
          </a:xfrm>
          <a:prstGeom prst="rect">
            <a:avLst/>
          </a:prstGeom>
          <a:solidFill>
            <a:srgbClr val="2E2E2B"/>
          </a:solidFill>
          <a:ln w="12700">
            <a:solidFill>
              <a:srgbClr val="2E2E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855464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100" kern="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EPIRUS ASSETS  ·  PARTNER OVERVIEW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321040" y="485546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02920" y="1417320"/>
            <a:ext cx="1508760" cy="2816352"/>
          </a:xfrm>
          <a:prstGeom prst="rect">
            <a:avLst/>
          </a:prstGeom>
          <a:solidFill>
            <a:srgbClr val="262623"/>
          </a:solidFill>
          <a:ln w="12700">
            <a:solidFill>
              <a:srgbClr val="2E2E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527048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B89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8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" y="2084832"/>
            <a:ext cx="365760" cy="3657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94360" y="2578608"/>
            <a:ext cx="1325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EB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Review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94360" y="3035808"/>
            <a:ext cx="13258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verification, encumbrances, planning status, notarial readiness.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2029968" y="2816352"/>
            <a:ext cx="118872" cy="22860"/>
          </a:xfrm>
          <a:prstGeom prst="rect">
            <a:avLst/>
          </a:prstGeom>
          <a:solidFill>
            <a:srgbClr val="B8924A"/>
          </a:solidFill>
          <a:ln w="12700">
            <a:solidFill>
              <a:srgbClr val="B8924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167128" y="1417320"/>
            <a:ext cx="1508760" cy="2816352"/>
          </a:xfrm>
          <a:prstGeom prst="rect">
            <a:avLst/>
          </a:prstGeom>
          <a:solidFill>
            <a:srgbClr val="262623"/>
          </a:solidFill>
          <a:ln w="12700">
            <a:solidFill>
              <a:srgbClr val="2E2E2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167128" y="1527048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B89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8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8628" y="2084832"/>
            <a:ext cx="365760" cy="36576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258568" y="2578608"/>
            <a:ext cx="1325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EB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Analysis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2258568" y="3035808"/>
            <a:ext cx="13258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Comparable pricing, demand dynamics, occupancy benchmarks, competitive supply.</a:t>
            </a:r>
            <a:endParaRPr lang="en-US" sz="850" dirty="0"/>
          </a:p>
        </p:txBody>
      </p:sp>
      <p:sp>
        <p:nvSpPr>
          <p:cNvPr id="19" name="Shape 15"/>
          <p:cNvSpPr/>
          <p:nvPr/>
        </p:nvSpPr>
        <p:spPr>
          <a:xfrm>
            <a:off x="3694176" y="2816352"/>
            <a:ext cx="118872" cy="22860"/>
          </a:xfrm>
          <a:prstGeom prst="rect">
            <a:avLst/>
          </a:prstGeom>
          <a:solidFill>
            <a:srgbClr val="B8924A"/>
          </a:solidFill>
          <a:ln w="12700">
            <a:solidFill>
              <a:srgbClr val="B8924A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3831336" y="1417320"/>
            <a:ext cx="1508760" cy="2816352"/>
          </a:xfrm>
          <a:prstGeom prst="rect">
            <a:avLst/>
          </a:prstGeom>
          <a:solidFill>
            <a:srgbClr val="262623"/>
          </a:solidFill>
          <a:ln w="12700">
            <a:solidFill>
              <a:srgbClr val="2E2E2B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3831336" y="1527048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B89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800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2836" y="2084832"/>
            <a:ext cx="365760" cy="36576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3922776" y="2578608"/>
            <a:ext cx="1325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EB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Assessment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3922776" y="3035808"/>
            <a:ext cx="13258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costs, renovation budget, projected yield, ROI/ROE modelling.</a:t>
            </a:r>
            <a:endParaRPr lang="en-US" sz="850" dirty="0"/>
          </a:p>
        </p:txBody>
      </p:sp>
      <p:sp>
        <p:nvSpPr>
          <p:cNvPr id="25" name="Shape 20"/>
          <p:cNvSpPr/>
          <p:nvPr/>
        </p:nvSpPr>
        <p:spPr>
          <a:xfrm>
            <a:off x="5358384" y="2816352"/>
            <a:ext cx="118872" cy="22860"/>
          </a:xfrm>
          <a:prstGeom prst="rect">
            <a:avLst/>
          </a:prstGeom>
          <a:solidFill>
            <a:srgbClr val="B8924A"/>
          </a:solidFill>
          <a:ln w="12700">
            <a:solidFill>
              <a:srgbClr val="B8924A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5495544" y="1417320"/>
            <a:ext cx="1508760" cy="2816352"/>
          </a:xfrm>
          <a:prstGeom prst="rect">
            <a:avLst/>
          </a:prstGeom>
          <a:solidFill>
            <a:srgbClr val="262623"/>
          </a:solidFill>
          <a:ln w="12700">
            <a:solidFill>
              <a:srgbClr val="2E2E2B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5495544" y="1527048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B89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800" dirty="0"/>
          </a:p>
        </p:txBody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7044" y="2084832"/>
            <a:ext cx="365760" cy="36576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5586984" y="2578608"/>
            <a:ext cx="1325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EB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Renovation Potential</a:t>
            </a:r>
            <a:endParaRPr lang="en-US" sz="1000" dirty="0"/>
          </a:p>
        </p:txBody>
      </p:sp>
      <p:sp>
        <p:nvSpPr>
          <p:cNvPr id="30" name="Text 24"/>
          <p:cNvSpPr/>
          <p:nvPr/>
        </p:nvSpPr>
        <p:spPr>
          <a:xfrm>
            <a:off x="5586984" y="3035808"/>
            <a:ext cx="13258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survey, scope definition, cost estimation, timeline feasibility.</a:t>
            </a:r>
            <a:endParaRPr lang="en-US" sz="850" dirty="0"/>
          </a:p>
        </p:txBody>
      </p:sp>
      <p:sp>
        <p:nvSpPr>
          <p:cNvPr id="31" name="Shape 25"/>
          <p:cNvSpPr/>
          <p:nvPr/>
        </p:nvSpPr>
        <p:spPr>
          <a:xfrm>
            <a:off x="7022592" y="2816352"/>
            <a:ext cx="118872" cy="22860"/>
          </a:xfrm>
          <a:prstGeom prst="rect">
            <a:avLst/>
          </a:prstGeom>
          <a:solidFill>
            <a:srgbClr val="B8924A"/>
          </a:solidFill>
          <a:ln w="12700">
            <a:solidFill>
              <a:srgbClr val="B8924A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7159752" y="1417320"/>
            <a:ext cx="1508760" cy="2816352"/>
          </a:xfrm>
          <a:prstGeom prst="rect">
            <a:avLst/>
          </a:prstGeom>
          <a:solidFill>
            <a:srgbClr val="262623"/>
          </a:solidFill>
          <a:ln w="12700">
            <a:solidFill>
              <a:srgbClr val="2E2E2B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7159752" y="1527048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B89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800" dirty="0"/>
          </a:p>
        </p:txBody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31252" y="2084832"/>
            <a:ext cx="365760" cy="365760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7251192" y="2578608"/>
            <a:ext cx="1325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EB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Strategy</a:t>
            </a:r>
            <a:endParaRPr lang="en-US" sz="1000" dirty="0"/>
          </a:p>
        </p:txBody>
      </p:sp>
      <p:sp>
        <p:nvSpPr>
          <p:cNvPr id="36" name="Text 29"/>
          <p:cNvSpPr/>
          <p:nvPr/>
        </p:nvSpPr>
        <p:spPr>
          <a:xfrm>
            <a:off x="7251192" y="3035808"/>
            <a:ext cx="13258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Resale market depth, liquidity assessment, holding period considerations.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" cy="5143500"/>
          </a:xfrm>
          <a:prstGeom prst="rect">
            <a:avLst/>
          </a:prstGeom>
          <a:solidFill>
            <a:srgbClr val="B8924A"/>
          </a:solidFill>
          <a:ln w="12700">
            <a:solidFill>
              <a:srgbClr val="B892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250" kern="0" dirty="0">
                <a:solidFill>
                  <a:srgbClr val="B89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PROFESSIONAL ECOSYSTEM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1C1C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Local Network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4837176"/>
            <a:ext cx="8229600" cy="10973"/>
          </a:xfrm>
          <a:prstGeom prst="rect">
            <a:avLst/>
          </a:prstGeom>
          <a:solidFill>
            <a:srgbClr val="E8E2D8"/>
          </a:solidFill>
          <a:ln w="12700">
            <a:solidFill>
              <a:srgbClr val="E8E2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855464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100" kern="0" dirty="0">
                <a:solidFill>
                  <a:srgbClr val="7A7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EPIRUS ASSETS  ·  PARTNER OVERVIEW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321040" y="485546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A7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457200" y="1261872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client doesn't just get a property. They get a coordinated support structure.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96596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7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bring together Greece's leading specialists — each pre-vetted, experienced with international clients — and coordinate them around your client's specific investment.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907792"/>
            <a:ext cx="3291840" cy="22860"/>
          </a:xfrm>
          <a:prstGeom prst="rect">
            <a:avLst/>
          </a:prstGeom>
          <a:solidFill>
            <a:srgbClr val="B8924A"/>
          </a:solidFill>
          <a:ln w="12700">
            <a:solidFill>
              <a:srgbClr val="B892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01752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B89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point of contact. Full professional coverage.</a:t>
            </a:r>
            <a:endParaRPr lang="en-US" sz="1150" dirty="0"/>
          </a:p>
          <a:p>
            <a:pPr algn="l" indent="0" marL="0">
              <a:buNone/>
            </a:pPr>
            <a:r>
              <a:rPr lang="en-US" sz="1150" i="1" dirty="0">
                <a:solidFill>
                  <a:srgbClr val="B89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client left to coordinate multiple Greek advisors independently.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7200" y="391363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7A7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partners have English-language capability and experience with international clients.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315968" y="1143000"/>
            <a:ext cx="18288" cy="3429000"/>
          </a:xfrm>
          <a:prstGeom prst="rect">
            <a:avLst/>
          </a:prstGeom>
          <a:solidFill>
            <a:srgbClr val="E8E2D8"/>
          </a:solidFill>
          <a:ln w="12700">
            <a:solidFill>
              <a:srgbClr val="E8E2D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80560" y="1143000"/>
            <a:ext cx="4370832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2D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480560" y="1143000"/>
            <a:ext cx="54864" cy="640080"/>
          </a:xfrm>
          <a:prstGeom prst="rect">
            <a:avLst/>
          </a:prstGeom>
          <a:solidFill>
            <a:srgbClr val="B8924A"/>
          </a:solidFill>
          <a:ln w="12700">
            <a:solidFill>
              <a:srgbClr val="B8924A"/>
            </a:solidFill>
            <a:prstDash val="solid"/>
          </a:ln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45152" y="1316736"/>
            <a:ext cx="256032" cy="256032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4992624" y="1234440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4992624" y="1481328"/>
            <a:ext cx="3776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7A7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lawyers &amp; conveyancing specialists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4480560" y="1865376"/>
            <a:ext cx="4370832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2D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480560" y="1865376"/>
            <a:ext cx="54864" cy="640080"/>
          </a:xfrm>
          <a:prstGeom prst="rect">
            <a:avLst/>
          </a:prstGeom>
          <a:solidFill>
            <a:srgbClr val="B8924A"/>
          </a:solidFill>
          <a:ln w="12700">
            <a:solidFill>
              <a:srgbClr val="B8924A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5152" y="2039112"/>
            <a:ext cx="256032" cy="256032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4992624" y="1956816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 &amp; Accounting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4992624" y="2203704"/>
            <a:ext cx="3776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7A7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Greek tax registration, AFM, annual filings</a:t>
            </a:r>
            <a:endParaRPr lang="en-US" sz="850" dirty="0"/>
          </a:p>
        </p:txBody>
      </p:sp>
      <p:sp>
        <p:nvSpPr>
          <p:cNvPr id="24" name="Shape 20"/>
          <p:cNvSpPr/>
          <p:nvPr/>
        </p:nvSpPr>
        <p:spPr>
          <a:xfrm>
            <a:off x="4480560" y="2587752"/>
            <a:ext cx="4370832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2D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4480560" y="2587752"/>
            <a:ext cx="54864" cy="640080"/>
          </a:xfrm>
          <a:prstGeom prst="rect">
            <a:avLst/>
          </a:prstGeom>
          <a:solidFill>
            <a:srgbClr val="B8924A"/>
          </a:solidFill>
          <a:ln w="12700">
            <a:solidFill>
              <a:srgbClr val="B8924A"/>
            </a:solidFill>
            <a:prstDash val="solid"/>
          </a:ln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5152" y="2761488"/>
            <a:ext cx="256032" cy="256032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4992624" y="2679192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Notary</a:t>
            </a:r>
            <a:endParaRPr lang="en-US" sz="1050" dirty="0"/>
          </a:p>
        </p:txBody>
      </p:sp>
      <p:sp>
        <p:nvSpPr>
          <p:cNvPr id="28" name="Text 23"/>
          <p:cNvSpPr/>
          <p:nvPr/>
        </p:nvSpPr>
        <p:spPr>
          <a:xfrm>
            <a:off x="4992624" y="2926080"/>
            <a:ext cx="3776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7A7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completion &amp; title transfer</a:t>
            </a:r>
            <a:endParaRPr lang="en-US" sz="850" dirty="0"/>
          </a:p>
        </p:txBody>
      </p:sp>
      <p:sp>
        <p:nvSpPr>
          <p:cNvPr id="29" name="Shape 24"/>
          <p:cNvSpPr/>
          <p:nvPr/>
        </p:nvSpPr>
        <p:spPr>
          <a:xfrm>
            <a:off x="4480560" y="3310128"/>
            <a:ext cx="4370832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2D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4480560" y="3310128"/>
            <a:ext cx="54864" cy="640080"/>
          </a:xfrm>
          <a:prstGeom prst="rect">
            <a:avLst/>
          </a:prstGeom>
          <a:solidFill>
            <a:srgbClr val="B8924A"/>
          </a:solidFill>
          <a:ln w="12700">
            <a:solidFill>
              <a:srgbClr val="B8924A"/>
            </a:solidFill>
            <a:prstDash val="solid"/>
          </a:ln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5152" y="3483864"/>
            <a:ext cx="256032" cy="256032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4992624" y="3401568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</a:t>
            </a:r>
            <a:endParaRPr lang="en-US" sz="1050" dirty="0"/>
          </a:p>
        </p:txBody>
      </p:sp>
      <p:sp>
        <p:nvSpPr>
          <p:cNvPr id="33" name="Text 27"/>
          <p:cNvSpPr/>
          <p:nvPr/>
        </p:nvSpPr>
        <p:spPr>
          <a:xfrm>
            <a:off x="4992624" y="3648456"/>
            <a:ext cx="3776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7A7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Renovation contractors &amp; project management</a:t>
            </a:r>
            <a:endParaRPr lang="en-US" sz="850" dirty="0"/>
          </a:p>
        </p:txBody>
      </p:sp>
      <p:sp>
        <p:nvSpPr>
          <p:cNvPr id="34" name="Shape 28"/>
          <p:cNvSpPr/>
          <p:nvPr/>
        </p:nvSpPr>
        <p:spPr>
          <a:xfrm>
            <a:off x="4480560" y="4032504"/>
            <a:ext cx="4370832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2D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35" name="Shape 29"/>
          <p:cNvSpPr/>
          <p:nvPr/>
        </p:nvSpPr>
        <p:spPr>
          <a:xfrm>
            <a:off x="4480560" y="4032504"/>
            <a:ext cx="54864" cy="640080"/>
          </a:xfrm>
          <a:prstGeom prst="rect">
            <a:avLst/>
          </a:prstGeom>
          <a:solidFill>
            <a:srgbClr val="B8924A"/>
          </a:solidFill>
          <a:ln w="12700">
            <a:solidFill>
              <a:srgbClr val="B8924A"/>
            </a:solidFill>
            <a:prstDash val="solid"/>
          </a:ln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5152" y="4206240"/>
            <a:ext cx="256032" cy="256032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4992624" y="4123944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Management</a:t>
            </a:r>
            <a:endParaRPr lang="en-US" sz="1050" dirty="0"/>
          </a:p>
        </p:txBody>
      </p:sp>
      <p:sp>
        <p:nvSpPr>
          <p:cNvPr id="38" name="Text 31"/>
          <p:cNvSpPr/>
          <p:nvPr/>
        </p:nvSpPr>
        <p:spPr>
          <a:xfrm>
            <a:off x="4992624" y="4370832"/>
            <a:ext cx="3776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7A7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Operations, maintenance &amp; rental coordination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C1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" cy="5143500"/>
          </a:xfrm>
          <a:prstGeom prst="rect">
            <a:avLst/>
          </a:prstGeom>
          <a:solidFill>
            <a:srgbClr val="B8924A"/>
          </a:solidFill>
          <a:ln w="12700">
            <a:solidFill>
              <a:srgbClr val="B892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250" kern="0" dirty="0">
                <a:solidFill>
                  <a:srgbClr val="B89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REFERRAL PARTNERS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F0EBE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Advisors Partner With Us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4837176"/>
            <a:ext cx="8229600" cy="10973"/>
          </a:xfrm>
          <a:prstGeom prst="rect">
            <a:avLst/>
          </a:prstGeom>
          <a:solidFill>
            <a:srgbClr val="2E2E2B"/>
          </a:solidFill>
          <a:ln w="12700">
            <a:solidFill>
              <a:srgbClr val="2E2E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855464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100" kern="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EPIRUS ASSETS  ·  PARTNER OVERVIEW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321040" y="485546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457200" y="1170432"/>
            <a:ext cx="1554480" cy="3182112"/>
          </a:xfrm>
          <a:prstGeom prst="rect">
            <a:avLst/>
          </a:prstGeom>
          <a:solidFill>
            <a:srgbClr val="262623"/>
          </a:solidFill>
          <a:ln w="12700">
            <a:solidFill>
              <a:srgbClr val="2E2E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170432"/>
            <a:ext cx="1554480" cy="45720"/>
          </a:xfrm>
          <a:prstGeom prst="rect">
            <a:avLst/>
          </a:prstGeom>
          <a:solidFill>
            <a:srgbClr val="B8924A"/>
          </a:solidFill>
          <a:ln w="12700">
            <a:solidFill>
              <a:srgbClr val="B8924A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" y="1463040"/>
            <a:ext cx="384048" cy="38404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48640" y="194767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EB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Local Expertise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48640" y="2651760"/>
            <a:ext cx="13716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know the Epirus and Athens markets at asset level — from direct relationships, not online data.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2144268" y="1170432"/>
            <a:ext cx="1554480" cy="3182112"/>
          </a:xfrm>
          <a:prstGeom prst="rect">
            <a:avLst/>
          </a:prstGeom>
          <a:solidFill>
            <a:srgbClr val="262623"/>
          </a:solidFill>
          <a:ln w="12700">
            <a:solidFill>
              <a:srgbClr val="2E2E2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144268" y="1170432"/>
            <a:ext cx="1554480" cy="45720"/>
          </a:xfrm>
          <a:prstGeom prst="rect">
            <a:avLst/>
          </a:prstGeom>
          <a:solidFill>
            <a:srgbClr val="B8924A"/>
          </a:solidFill>
          <a:ln w="12700">
            <a:solidFill>
              <a:srgbClr val="B8924A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9484" y="1463040"/>
            <a:ext cx="384048" cy="38404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235708" y="194767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EB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Off-Market Pipeline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2235708" y="2651760"/>
            <a:ext cx="13716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 opportunities not publicly listed. Your clients see what others don't.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3831336" y="1170432"/>
            <a:ext cx="1554480" cy="3182112"/>
          </a:xfrm>
          <a:prstGeom prst="rect">
            <a:avLst/>
          </a:prstGeom>
          <a:solidFill>
            <a:srgbClr val="262623"/>
          </a:solidFill>
          <a:ln w="12700">
            <a:solidFill>
              <a:srgbClr val="2E2E2B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3831336" y="1170432"/>
            <a:ext cx="1554480" cy="45720"/>
          </a:xfrm>
          <a:prstGeom prst="rect">
            <a:avLst/>
          </a:prstGeom>
          <a:solidFill>
            <a:srgbClr val="B8924A"/>
          </a:solidFill>
          <a:ln w="12700">
            <a:solidFill>
              <a:srgbClr val="B8924A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6552" y="1463040"/>
            <a:ext cx="384048" cy="38404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3922776" y="194767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EB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Communication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3922776" y="2651760"/>
            <a:ext cx="13716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timelines, honest assessments, proactive updates. No surprises for you or your client.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5518404" y="1170432"/>
            <a:ext cx="1554480" cy="3182112"/>
          </a:xfrm>
          <a:prstGeom prst="rect">
            <a:avLst/>
          </a:prstGeom>
          <a:solidFill>
            <a:srgbClr val="262623"/>
          </a:solidFill>
          <a:ln w="12700">
            <a:solidFill>
              <a:srgbClr val="2E2E2B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5518404" y="1170432"/>
            <a:ext cx="1554480" cy="45720"/>
          </a:xfrm>
          <a:prstGeom prst="rect">
            <a:avLst/>
          </a:prstGeom>
          <a:solidFill>
            <a:srgbClr val="B8924A"/>
          </a:solidFill>
          <a:ln w="12700">
            <a:solidFill>
              <a:srgbClr val="B8924A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3620" y="1463040"/>
            <a:ext cx="384048" cy="38404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609844" y="194767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EB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Client Support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5609844" y="2651760"/>
            <a:ext cx="13716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process from search to post-acquisition. You stay informed; your client is supported throughout.</a:t>
            </a:r>
            <a:endParaRPr lang="en-US" sz="900" dirty="0"/>
          </a:p>
        </p:txBody>
      </p:sp>
      <p:sp>
        <p:nvSpPr>
          <p:cNvPr id="28" name="Shape 22"/>
          <p:cNvSpPr/>
          <p:nvPr/>
        </p:nvSpPr>
        <p:spPr>
          <a:xfrm>
            <a:off x="7205472" y="1170432"/>
            <a:ext cx="1554480" cy="3182112"/>
          </a:xfrm>
          <a:prstGeom prst="rect">
            <a:avLst/>
          </a:prstGeom>
          <a:solidFill>
            <a:srgbClr val="262623"/>
          </a:solidFill>
          <a:ln w="12700">
            <a:solidFill>
              <a:srgbClr val="2E2E2B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7205472" y="1170432"/>
            <a:ext cx="1554480" cy="45720"/>
          </a:xfrm>
          <a:prstGeom prst="rect">
            <a:avLst/>
          </a:prstGeom>
          <a:solidFill>
            <a:srgbClr val="B8924A"/>
          </a:solidFill>
          <a:ln w="12700">
            <a:solidFill>
              <a:srgbClr val="B8924A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90688" y="1463040"/>
            <a:ext cx="384048" cy="384048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7296912" y="194767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EB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Point of Contact</a:t>
            </a:r>
            <a:endParaRPr lang="en-US" sz="1000" dirty="0"/>
          </a:p>
        </p:txBody>
      </p:sp>
      <p:sp>
        <p:nvSpPr>
          <p:cNvPr id="32" name="Text 25"/>
          <p:cNvSpPr/>
          <p:nvPr/>
        </p:nvSpPr>
        <p:spPr>
          <a:xfrm>
            <a:off x="7296912" y="2651760"/>
            <a:ext cx="13716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accountable partner for your client — throughout the transaction and beyond completion.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" cy="5143500"/>
          </a:xfrm>
          <a:prstGeom prst="rect">
            <a:avLst/>
          </a:prstGeom>
          <a:solidFill>
            <a:srgbClr val="B8924A"/>
          </a:solidFill>
          <a:ln w="12700">
            <a:solidFill>
              <a:srgbClr val="B892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250" kern="0" dirty="0">
                <a:solidFill>
                  <a:srgbClr val="B89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WE WORK WITH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1C1C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Typical Client Profiles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4837176"/>
            <a:ext cx="8229600" cy="10973"/>
          </a:xfrm>
          <a:prstGeom prst="rect">
            <a:avLst/>
          </a:prstGeom>
          <a:solidFill>
            <a:srgbClr val="E8E2D8"/>
          </a:solidFill>
          <a:ln w="12700">
            <a:solidFill>
              <a:srgbClr val="E8E2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855464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100" kern="0" dirty="0">
                <a:solidFill>
                  <a:srgbClr val="7A7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EPIRUS ASSETS  ·  PARTNER OVERVIEW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321040" y="485546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A7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457200" y="9601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7A7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examples rather than case studies. Real transactions available in confidence on request.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261872"/>
            <a:ext cx="260604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2D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261872"/>
            <a:ext cx="2606040" cy="45720"/>
          </a:xfrm>
          <a:prstGeom prst="rect">
            <a:avLst/>
          </a:prstGeom>
          <a:solidFill>
            <a:srgbClr val="B8924A"/>
          </a:solidFill>
          <a:ln w="12700">
            <a:solidFill>
              <a:srgbClr val="B892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1426464"/>
            <a:ext cx="475488" cy="475488"/>
          </a:xfrm>
          <a:prstGeom prst="ellipse">
            <a:avLst/>
          </a:prstGeom>
          <a:solidFill>
            <a:srgbClr val="FBF6EE"/>
          </a:solidFill>
          <a:ln w="12700">
            <a:solidFill>
              <a:srgbClr val="E8E2D8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1527048"/>
            <a:ext cx="274320" cy="27432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234440" y="146304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150" kern="0" dirty="0">
                <a:solidFill>
                  <a:srgbClr val="B89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A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594360" y="199339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Visa Investor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594360" y="2395728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00" kern="0" dirty="0">
                <a:solidFill>
                  <a:srgbClr val="7A7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594360" y="256032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€250K – €600K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594360" y="2834640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00" kern="0" dirty="0">
                <a:solidFill>
                  <a:srgbClr val="7A7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700" dirty="0"/>
          </a:p>
        </p:txBody>
      </p:sp>
      <p:sp>
        <p:nvSpPr>
          <p:cNvPr id="18" name="Text 15"/>
          <p:cNvSpPr/>
          <p:nvPr/>
        </p:nvSpPr>
        <p:spPr>
          <a:xfrm>
            <a:off x="594360" y="2999232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residency + passive income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594360" y="3273552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00" kern="0" dirty="0">
                <a:solidFill>
                  <a:srgbClr val="7A7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TYPE</a:t>
            </a:r>
            <a:endParaRPr lang="en-US" sz="700" dirty="0"/>
          </a:p>
        </p:txBody>
      </p:sp>
      <p:sp>
        <p:nvSpPr>
          <p:cNvPr id="20" name="Text 17"/>
          <p:cNvSpPr/>
          <p:nvPr/>
        </p:nvSpPr>
        <p:spPr>
          <a:xfrm>
            <a:off x="594360" y="3438144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Qualifying residential or mixed-use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594360" y="3712464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00" kern="0" dirty="0">
                <a:solidFill>
                  <a:srgbClr val="7A7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PROVIDE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594360" y="387705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GV sourcing, legal coordination,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rental management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594360" y="423367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B89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[Placeholder: insert current GV property example]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3246120" y="1261872"/>
            <a:ext cx="260604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2D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3246120" y="1261872"/>
            <a:ext cx="2606040" cy="45720"/>
          </a:xfrm>
          <a:prstGeom prst="rect">
            <a:avLst/>
          </a:prstGeom>
          <a:solidFill>
            <a:srgbClr val="B8924A"/>
          </a:solidFill>
          <a:ln w="12700">
            <a:solidFill>
              <a:srgbClr val="B8924A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3429000" y="1426464"/>
            <a:ext cx="475488" cy="475488"/>
          </a:xfrm>
          <a:prstGeom prst="ellipse">
            <a:avLst/>
          </a:prstGeom>
          <a:solidFill>
            <a:srgbClr val="FBF6EE"/>
          </a:solidFill>
          <a:ln w="12700">
            <a:solidFill>
              <a:srgbClr val="E8E2D8"/>
            </a:solidFill>
            <a:prstDash val="solid"/>
          </a:ln>
        </p:spPr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9584" y="1527048"/>
            <a:ext cx="274320" cy="274320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4023360" y="146304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150" kern="0" dirty="0">
                <a:solidFill>
                  <a:srgbClr val="B89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B</a:t>
            </a:r>
            <a:endParaRPr lang="en-US" sz="750" dirty="0"/>
          </a:p>
        </p:txBody>
      </p:sp>
      <p:sp>
        <p:nvSpPr>
          <p:cNvPr id="29" name="Text 25"/>
          <p:cNvSpPr/>
          <p:nvPr/>
        </p:nvSpPr>
        <p:spPr>
          <a:xfrm>
            <a:off x="3383280" y="199339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Hospitality Investor</a:t>
            </a:r>
            <a:endParaRPr lang="en-US" sz="1250" dirty="0"/>
          </a:p>
        </p:txBody>
      </p:sp>
      <p:sp>
        <p:nvSpPr>
          <p:cNvPr id="30" name="Text 26"/>
          <p:cNvSpPr/>
          <p:nvPr/>
        </p:nvSpPr>
        <p:spPr>
          <a:xfrm>
            <a:off x="3383280" y="2395728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00" kern="0" dirty="0">
                <a:solidFill>
                  <a:srgbClr val="7A7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</a:t>
            </a:r>
            <a:endParaRPr lang="en-US" sz="700" dirty="0"/>
          </a:p>
        </p:txBody>
      </p:sp>
      <p:sp>
        <p:nvSpPr>
          <p:cNvPr id="31" name="Text 27"/>
          <p:cNvSpPr/>
          <p:nvPr/>
        </p:nvSpPr>
        <p:spPr>
          <a:xfrm>
            <a:off x="3383280" y="256032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€500K – €2M+</a:t>
            </a:r>
            <a:endParaRPr lang="en-US" sz="900" dirty="0"/>
          </a:p>
        </p:txBody>
      </p:sp>
      <p:sp>
        <p:nvSpPr>
          <p:cNvPr id="32" name="Text 28"/>
          <p:cNvSpPr/>
          <p:nvPr/>
        </p:nvSpPr>
        <p:spPr>
          <a:xfrm>
            <a:off x="3383280" y="2834640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00" kern="0" dirty="0">
                <a:solidFill>
                  <a:srgbClr val="7A7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700" dirty="0"/>
          </a:p>
        </p:txBody>
      </p:sp>
      <p:sp>
        <p:nvSpPr>
          <p:cNvPr id="33" name="Text 29"/>
          <p:cNvSpPr/>
          <p:nvPr/>
        </p:nvSpPr>
        <p:spPr>
          <a:xfrm>
            <a:off x="3383280" y="2999232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Yield-generating hospitality asset</a:t>
            </a:r>
            <a:endParaRPr lang="en-US" sz="900" dirty="0"/>
          </a:p>
        </p:txBody>
      </p:sp>
      <p:sp>
        <p:nvSpPr>
          <p:cNvPr id="34" name="Text 30"/>
          <p:cNvSpPr/>
          <p:nvPr/>
        </p:nvSpPr>
        <p:spPr>
          <a:xfrm>
            <a:off x="3383280" y="3273552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00" kern="0" dirty="0">
                <a:solidFill>
                  <a:srgbClr val="7A7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TYPE</a:t>
            </a:r>
            <a:endParaRPr lang="en-US" sz="700" dirty="0"/>
          </a:p>
        </p:txBody>
      </p:sp>
      <p:sp>
        <p:nvSpPr>
          <p:cNvPr id="35" name="Text 31"/>
          <p:cNvSpPr/>
          <p:nvPr/>
        </p:nvSpPr>
        <p:spPr>
          <a:xfrm>
            <a:off x="3383280" y="3438144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Boutique hotel, guesthouse, aparthotel</a:t>
            </a:r>
            <a:endParaRPr lang="en-US" sz="900" dirty="0"/>
          </a:p>
        </p:txBody>
      </p:sp>
      <p:sp>
        <p:nvSpPr>
          <p:cNvPr id="36" name="Text 32"/>
          <p:cNvSpPr/>
          <p:nvPr/>
        </p:nvSpPr>
        <p:spPr>
          <a:xfrm>
            <a:off x="3383280" y="3712464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00" kern="0" dirty="0">
                <a:solidFill>
                  <a:srgbClr val="7A7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PROVIDE</a:t>
            </a:r>
            <a:endParaRPr lang="en-US" sz="700" dirty="0"/>
          </a:p>
        </p:txBody>
      </p:sp>
      <p:sp>
        <p:nvSpPr>
          <p:cNvPr id="37" name="Text 33"/>
          <p:cNvSpPr/>
          <p:nvPr/>
        </p:nvSpPr>
        <p:spPr>
          <a:xfrm>
            <a:off x="3383280" y="387705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Sourcing, renovation supervision,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introduction</a:t>
            </a:r>
            <a:endParaRPr lang="en-US" sz="900" dirty="0"/>
          </a:p>
        </p:txBody>
      </p:sp>
      <p:sp>
        <p:nvSpPr>
          <p:cNvPr id="38" name="Text 34"/>
          <p:cNvSpPr/>
          <p:nvPr/>
        </p:nvSpPr>
        <p:spPr>
          <a:xfrm>
            <a:off x="3383280" y="423367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B89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[Placeholder: insert hospitality investment example]</a:t>
            </a:r>
            <a:endParaRPr lang="en-US" sz="750" dirty="0"/>
          </a:p>
        </p:txBody>
      </p:sp>
      <p:sp>
        <p:nvSpPr>
          <p:cNvPr id="39" name="Shape 35"/>
          <p:cNvSpPr/>
          <p:nvPr/>
        </p:nvSpPr>
        <p:spPr>
          <a:xfrm>
            <a:off x="6035040" y="1261872"/>
            <a:ext cx="260604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2D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40" name="Shape 36"/>
          <p:cNvSpPr/>
          <p:nvPr/>
        </p:nvSpPr>
        <p:spPr>
          <a:xfrm>
            <a:off x="6035040" y="1261872"/>
            <a:ext cx="2606040" cy="45720"/>
          </a:xfrm>
          <a:prstGeom prst="rect">
            <a:avLst/>
          </a:prstGeom>
          <a:solidFill>
            <a:srgbClr val="B8924A"/>
          </a:solidFill>
          <a:ln w="12700">
            <a:solidFill>
              <a:srgbClr val="B8924A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6217920" y="1426464"/>
            <a:ext cx="475488" cy="475488"/>
          </a:xfrm>
          <a:prstGeom prst="ellipse">
            <a:avLst/>
          </a:prstGeom>
          <a:solidFill>
            <a:srgbClr val="FBF6EE"/>
          </a:solidFill>
          <a:ln w="12700">
            <a:solidFill>
              <a:srgbClr val="E8E2D8"/>
            </a:solidFill>
            <a:prstDash val="solid"/>
          </a:ln>
        </p:spPr>
      </p:sp>
      <p:pic>
        <p:nvPicPr>
          <p:cNvPr id="4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8504" y="1527048"/>
            <a:ext cx="274320" cy="274320"/>
          </a:xfrm>
          <a:prstGeom prst="rect">
            <a:avLst/>
          </a:prstGeom>
        </p:spPr>
      </p:pic>
      <p:sp>
        <p:nvSpPr>
          <p:cNvPr id="43" name="Text 38"/>
          <p:cNvSpPr/>
          <p:nvPr/>
        </p:nvSpPr>
        <p:spPr>
          <a:xfrm>
            <a:off x="6812280" y="146304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150" kern="0" dirty="0">
                <a:solidFill>
                  <a:srgbClr val="B89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C</a:t>
            </a:r>
            <a:endParaRPr lang="en-US" sz="750" dirty="0"/>
          </a:p>
        </p:txBody>
      </p:sp>
      <p:sp>
        <p:nvSpPr>
          <p:cNvPr id="44" name="Text 39"/>
          <p:cNvSpPr/>
          <p:nvPr/>
        </p:nvSpPr>
        <p:spPr>
          <a:xfrm>
            <a:off x="6172200" y="199339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Income-Focused Investor</a:t>
            </a:r>
            <a:endParaRPr lang="en-US" sz="1250" dirty="0"/>
          </a:p>
        </p:txBody>
      </p:sp>
      <p:sp>
        <p:nvSpPr>
          <p:cNvPr id="45" name="Text 40"/>
          <p:cNvSpPr/>
          <p:nvPr/>
        </p:nvSpPr>
        <p:spPr>
          <a:xfrm>
            <a:off x="6172200" y="2395728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00" kern="0" dirty="0">
                <a:solidFill>
                  <a:srgbClr val="7A7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</a:t>
            </a:r>
            <a:endParaRPr lang="en-US" sz="700" dirty="0"/>
          </a:p>
        </p:txBody>
      </p:sp>
      <p:sp>
        <p:nvSpPr>
          <p:cNvPr id="46" name="Text 41"/>
          <p:cNvSpPr/>
          <p:nvPr/>
        </p:nvSpPr>
        <p:spPr>
          <a:xfrm>
            <a:off x="6172200" y="256032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€300K – €1M</a:t>
            </a:r>
            <a:endParaRPr lang="en-US" sz="900" dirty="0"/>
          </a:p>
        </p:txBody>
      </p:sp>
      <p:sp>
        <p:nvSpPr>
          <p:cNvPr id="47" name="Text 42"/>
          <p:cNvSpPr/>
          <p:nvPr/>
        </p:nvSpPr>
        <p:spPr>
          <a:xfrm>
            <a:off x="6172200" y="2834640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00" kern="0" dirty="0">
                <a:solidFill>
                  <a:srgbClr val="7A7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700" dirty="0"/>
          </a:p>
        </p:txBody>
      </p:sp>
      <p:sp>
        <p:nvSpPr>
          <p:cNvPr id="48" name="Text 43"/>
          <p:cNvSpPr/>
          <p:nvPr/>
        </p:nvSpPr>
        <p:spPr>
          <a:xfrm>
            <a:off x="6172200" y="2999232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annual yield</a:t>
            </a:r>
            <a:endParaRPr lang="en-US" sz="900" dirty="0"/>
          </a:p>
        </p:txBody>
      </p:sp>
      <p:sp>
        <p:nvSpPr>
          <p:cNvPr id="49" name="Text 44"/>
          <p:cNvSpPr/>
          <p:nvPr/>
        </p:nvSpPr>
        <p:spPr>
          <a:xfrm>
            <a:off x="6172200" y="3273552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00" kern="0" dirty="0">
                <a:solidFill>
                  <a:srgbClr val="7A7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TYPE</a:t>
            </a:r>
            <a:endParaRPr lang="en-US" sz="700" dirty="0"/>
          </a:p>
        </p:txBody>
      </p:sp>
      <p:sp>
        <p:nvSpPr>
          <p:cNvPr id="50" name="Text 45"/>
          <p:cNvSpPr/>
          <p:nvPr/>
        </p:nvSpPr>
        <p:spPr>
          <a:xfrm>
            <a:off x="6172200" y="3438144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Flats, suites, or small commercial</a:t>
            </a:r>
            <a:endParaRPr lang="en-US" sz="900" dirty="0"/>
          </a:p>
        </p:txBody>
      </p:sp>
      <p:sp>
        <p:nvSpPr>
          <p:cNvPr id="51" name="Text 46"/>
          <p:cNvSpPr/>
          <p:nvPr/>
        </p:nvSpPr>
        <p:spPr>
          <a:xfrm>
            <a:off x="6172200" y="3712464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00" kern="0" dirty="0">
                <a:solidFill>
                  <a:srgbClr val="7A7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PROVIDE</a:t>
            </a:r>
            <a:endParaRPr lang="en-US" sz="700" dirty="0"/>
          </a:p>
        </p:txBody>
      </p:sp>
      <p:sp>
        <p:nvSpPr>
          <p:cNvPr id="52" name="Text 47"/>
          <p:cNvSpPr/>
          <p:nvPr/>
        </p:nvSpPr>
        <p:spPr>
          <a:xfrm>
            <a:off x="6172200" y="387705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Value-add sourcing, yield modelling,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management</a:t>
            </a:r>
            <a:endParaRPr lang="en-US" sz="900" dirty="0"/>
          </a:p>
        </p:txBody>
      </p:sp>
      <p:sp>
        <p:nvSpPr>
          <p:cNvPr id="53" name="Text 48"/>
          <p:cNvSpPr/>
          <p:nvPr/>
        </p:nvSpPr>
        <p:spPr>
          <a:xfrm>
            <a:off x="6172200" y="423367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B89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[Placeholder: insert residential income example]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C1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" cy="5143500"/>
          </a:xfrm>
          <a:prstGeom prst="rect">
            <a:avLst/>
          </a:prstGeom>
          <a:solidFill>
            <a:srgbClr val="B8924A"/>
          </a:solidFill>
          <a:ln w="12700">
            <a:solidFill>
              <a:srgbClr val="B892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250" kern="0" dirty="0">
                <a:solidFill>
                  <a:srgbClr val="B89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TOGETHER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F0EBE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Cooperation Works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4837176"/>
            <a:ext cx="8229600" cy="10973"/>
          </a:xfrm>
          <a:prstGeom prst="rect">
            <a:avLst/>
          </a:prstGeom>
          <a:solidFill>
            <a:srgbClr val="2E2E2B"/>
          </a:solidFill>
          <a:ln w="12700">
            <a:solidFill>
              <a:srgbClr val="2E2E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855464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100" kern="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EPIRUS ASSETS  ·  PARTNER OVERVIEW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321040" y="485546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667512" y="1508760"/>
            <a:ext cx="950976" cy="950976"/>
          </a:xfrm>
          <a:prstGeom prst="ellipse">
            <a:avLst/>
          </a:prstGeom>
          <a:solidFill>
            <a:srgbClr val="B8924A"/>
          </a:solidFill>
          <a:ln w="12700">
            <a:solidFill>
              <a:srgbClr val="B892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" y="1545336"/>
            <a:ext cx="95097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1C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655064" y="1975104"/>
            <a:ext cx="347472" cy="22860"/>
          </a:xfrm>
          <a:prstGeom prst="rect">
            <a:avLst/>
          </a:prstGeom>
          <a:solidFill>
            <a:srgbClr val="B8924A"/>
          </a:solidFill>
          <a:ln w="12700">
            <a:solidFill>
              <a:srgbClr val="B892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642616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89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66344" y="3054096"/>
            <a:ext cx="13533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identify a client with Greece interest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039112" y="1508760"/>
            <a:ext cx="950976" cy="950976"/>
          </a:xfrm>
          <a:prstGeom prst="ellipse">
            <a:avLst/>
          </a:prstGeom>
          <a:solidFill>
            <a:srgbClr val="262623"/>
          </a:solidFill>
          <a:ln w="19050">
            <a:solidFill>
              <a:srgbClr val="B892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39112" y="1545336"/>
            <a:ext cx="95097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89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026664" y="1975104"/>
            <a:ext cx="347472" cy="22860"/>
          </a:xfrm>
          <a:prstGeom prst="rect">
            <a:avLst/>
          </a:prstGeom>
          <a:solidFill>
            <a:srgbClr val="B8924A"/>
          </a:solidFill>
          <a:ln w="12700">
            <a:solidFill>
              <a:srgbClr val="B892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74520" y="2642616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0EB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837944" y="3054096"/>
            <a:ext cx="13533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intro email or call with us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10712" y="1508760"/>
            <a:ext cx="950976" cy="950976"/>
          </a:xfrm>
          <a:prstGeom prst="ellipse">
            <a:avLst/>
          </a:prstGeom>
          <a:solidFill>
            <a:srgbClr val="262623"/>
          </a:solidFill>
          <a:ln w="19050">
            <a:solidFill>
              <a:srgbClr val="B892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10712" y="1545336"/>
            <a:ext cx="95097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89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398264" y="1975104"/>
            <a:ext cx="347472" cy="22860"/>
          </a:xfrm>
          <a:prstGeom prst="rect">
            <a:avLst/>
          </a:prstGeom>
          <a:solidFill>
            <a:srgbClr val="B8924A"/>
          </a:solidFill>
          <a:ln w="12700">
            <a:solidFill>
              <a:srgbClr val="B892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46120" y="2642616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0EB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Call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209544" y="3054096"/>
            <a:ext cx="13533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understand the client's objectives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782312" y="1508760"/>
            <a:ext cx="950976" cy="950976"/>
          </a:xfrm>
          <a:prstGeom prst="ellipse">
            <a:avLst/>
          </a:prstGeom>
          <a:solidFill>
            <a:srgbClr val="262623"/>
          </a:solidFill>
          <a:ln w="19050">
            <a:solidFill>
              <a:srgbClr val="B892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82312" y="1545336"/>
            <a:ext cx="95097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89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769864" y="1975104"/>
            <a:ext cx="347472" cy="22860"/>
          </a:xfrm>
          <a:prstGeom prst="rect">
            <a:avLst/>
          </a:prstGeom>
          <a:solidFill>
            <a:srgbClr val="B8924A"/>
          </a:solidFill>
          <a:ln w="12700">
            <a:solidFill>
              <a:srgbClr val="B892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17720" y="2642616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0EB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0EB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581144" y="3054096"/>
            <a:ext cx="13533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propose curated, matched assets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153912" y="1508760"/>
            <a:ext cx="950976" cy="950976"/>
          </a:xfrm>
          <a:prstGeom prst="ellipse">
            <a:avLst/>
          </a:prstGeom>
          <a:solidFill>
            <a:srgbClr val="262623"/>
          </a:solidFill>
          <a:ln w="19050">
            <a:solidFill>
              <a:srgbClr val="B892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53912" y="1545336"/>
            <a:ext cx="95097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89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141464" y="1975104"/>
            <a:ext cx="347472" cy="22860"/>
          </a:xfrm>
          <a:prstGeom prst="rect">
            <a:avLst/>
          </a:prstGeom>
          <a:solidFill>
            <a:srgbClr val="B8924A"/>
          </a:solidFill>
          <a:ln w="12700">
            <a:solidFill>
              <a:srgbClr val="B892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89320" y="2642616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0EB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0EB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952744" y="3054096"/>
            <a:ext cx="13533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Legal, due diligence, acquisition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7525512" y="1508760"/>
            <a:ext cx="950976" cy="950976"/>
          </a:xfrm>
          <a:prstGeom prst="ellipse">
            <a:avLst/>
          </a:prstGeom>
          <a:solidFill>
            <a:srgbClr val="262623"/>
          </a:solidFill>
          <a:ln w="19050">
            <a:solidFill>
              <a:srgbClr val="B892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525512" y="1545336"/>
            <a:ext cx="95097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89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7360920" y="2642616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0EB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0EB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7324344" y="3054096"/>
            <a:ext cx="13533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Post-acquisition operations &amp; reporting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914400" y="4160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respect your client relationship — you remain the trusted advisor throughout. We are the local execution partner.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C1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" cy="5143500"/>
          </a:xfrm>
          <a:prstGeom prst="rect">
            <a:avLst/>
          </a:prstGeom>
          <a:solidFill>
            <a:srgbClr val="B8924A"/>
          </a:solidFill>
          <a:ln w="12700">
            <a:solidFill>
              <a:srgbClr val="B892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262623"/>
          </a:solidFill>
          <a:ln w="12700">
            <a:solidFill>
              <a:srgbClr val="262623"/>
            </a:solidFill>
            <a:prstDash val="solid"/>
          </a:ln>
        </p:spPr>
      </p:sp>
      <p:pic>
        <p:nvPicPr>
          <p:cNvPr id="4" name="Image 0" descr="C:\Users\nprud\epirus-assets\site\images\logo-ligh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46520" y="457200"/>
            <a:ext cx="2286000" cy="74980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75120" y="1417320"/>
            <a:ext cx="1828800" cy="20117"/>
          </a:xfrm>
          <a:prstGeom prst="rect">
            <a:avLst/>
          </a:prstGeom>
          <a:solidFill>
            <a:srgbClr val="B8924A"/>
          </a:solidFill>
          <a:ln w="12700">
            <a:solidFill>
              <a:srgbClr val="B8924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0" y="158191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EB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Olga Kononenko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400800" y="185623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6766560" y="2176272"/>
            <a:ext cx="1645920" cy="13716"/>
          </a:xfrm>
          <a:prstGeom prst="rect">
            <a:avLst/>
          </a:prstGeom>
          <a:solidFill>
            <a:srgbClr val="2E2E2B"/>
          </a:solidFill>
          <a:ln w="12700">
            <a:solidFill>
              <a:srgbClr val="2E2E2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0" y="23591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EB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Natalia Prudkaya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400800" y="263347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Manager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6675120" y="3200400"/>
            <a:ext cx="1828800" cy="20117"/>
          </a:xfrm>
          <a:prstGeom prst="rect">
            <a:avLst/>
          </a:prstGeom>
          <a:solidFill>
            <a:srgbClr val="2E2E2B"/>
          </a:solidFill>
          <a:ln w="12700">
            <a:solidFill>
              <a:srgbClr val="2E2E2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00800" y="33375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9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epirusassets.com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400800" y="359359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Epirus &amp; Athens, Greece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6675120" y="4069080"/>
            <a:ext cx="1828800" cy="13716"/>
          </a:xfrm>
          <a:prstGeom prst="rect">
            <a:avLst/>
          </a:prstGeom>
          <a:solidFill>
            <a:srgbClr val="2E2E2B"/>
          </a:solidFill>
          <a:ln w="12700">
            <a:solidFill>
              <a:srgbClr val="2E2E2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00800" y="422452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partner overview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457200" y="4572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250" kern="0" dirty="0">
                <a:solidFill>
                  <a:srgbClr val="B89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THE CONVERSATION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457200" y="658368"/>
            <a:ext cx="5486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rgbClr val="F0EBE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Let's Explore</a:t>
            </a:r>
            <a:endParaRPr lang="en-US" sz="4000" dirty="0"/>
          </a:p>
          <a:p>
            <a:pPr algn="l" indent="0" marL="0">
              <a:buNone/>
            </a:pPr>
            <a:r>
              <a:rPr lang="en-US" sz="4000" dirty="0">
                <a:solidFill>
                  <a:srgbClr val="F0EBE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Working Together</a:t>
            </a:r>
            <a:endParaRPr lang="en-US" sz="4000" dirty="0"/>
          </a:p>
        </p:txBody>
      </p:sp>
      <p:sp>
        <p:nvSpPr>
          <p:cNvPr id="18" name="Shape 15"/>
          <p:cNvSpPr/>
          <p:nvPr/>
        </p:nvSpPr>
        <p:spPr>
          <a:xfrm>
            <a:off x="457200" y="2148840"/>
            <a:ext cx="5669280" cy="27432"/>
          </a:xfrm>
          <a:prstGeom prst="rect">
            <a:avLst/>
          </a:prstGeom>
          <a:solidFill>
            <a:srgbClr val="B8924A"/>
          </a:solidFill>
          <a:ln w="12700">
            <a:solidFill>
              <a:srgbClr val="B8924A"/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395728"/>
            <a:ext cx="274320" cy="27432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868680" y="230428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0EB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 Discussion</a:t>
            </a:r>
            <a:endParaRPr lang="en-US" sz="1150" dirty="0"/>
          </a:p>
        </p:txBody>
      </p:sp>
      <p:sp>
        <p:nvSpPr>
          <p:cNvPr id="21" name="Text 17"/>
          <p:cNvSpPr/>
          <p:nvPr/>
        </p:nvSpPr>
        <p:spPr>
          <a:xfrm>
            <a:off x="868680" y="2578608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referral structure, scope of collaboration, and how we can support your practice.</a:t>
            </a:r>
            <a:endParaRPr lang="en-US" sz="950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145536"/>
            <a:ext cx="274320" cy="27432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68680" y="305409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0EB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Introduction</a:t>
            </a:r>
            <a:endParaRPr lang="en-US" sz="1150" dirty="0"/>
          </a:p>
        </p:txBody>
      </p:sp>
      <p:sp>
        <p:nvSpPr>
          <p:cNvPr id="24" name="Text 19"/>
          <p:cNvSpPr/>
          <p:nvPr/>
        </p:nvSpPr>
        <p:spPr>
          <a:xfrm>
            <a:off x="868680" y="3328416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a specific client — we'll prepare a tailored property selection and investment brief.</a:t>
            </a:r>
            <a:endParaRPr lang="en-US" sz="950" dirty="0"/>
          </a:p>
        </p:txBody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895344"/>
            <a:ext cx="274320" cy="27432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868680" y="380390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0EB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Current Opportunities</a:t>
            </a:r>
            <a:endParaRPr lang="en-US" sz="1150" dirty="0"/>
          </a:p>
        </p:txBody>
      </p:sp>
      <p:sp>
        <p:nvSpPr>
          <p:cNvPr id="27" name="Text 21"/>
          <p:cNvSpPr/>
          <p:nvPr/>
        </p:nvSpPr>
        <p:spPr>
          <a:xfrm>
            <a:off x="868680" y="4078224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our current off-market pipeline filtered by your clients' investment profile and budget.</a:t>
            </a:r>
            <a:endParaRPr lang="en-US" sz="950" dirty="0"/>
          </a:p>
        </p:txBody>
      </p:sp>
      <p:sp>
        <p:nvSpPr>
          <p:cNvPr id="28" name="Shape 22"/>
          <p:cNvSpPr/>
          <p:nvPr/>
        </p:nvSpPr>
        <p:spPr>
          <a:xfrm>
            <a:off x="457200" y="4590288"/>
            <a:ext cx="5303520" cy="13716"/>
          </a:xfrm>
          <a:prstGeom prst="rect">
            <a:avLst/>
          </a:prstGeom>
          <a:solidFill>
            <a:srgbClr val="2E2E2B"/>
          </a:solidFill>
          <a:ln w="12700">
            <a:solidFill>
              <a:srgbClr val="2E2E2B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457200" y="4663440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50" kern="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Property Sourcing  ·  Golden Visa  ·  Hospitality Investments  ·  Rental Management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Epirus Assets — Partner Overview</dc:title>
  <dc:subject>PptxGenJS Presentation</dc:subject>
  <dc:creator>Epirus Assets</dc:creator>
  <cp:lastModifiedBy>Epirus Assets</cp:lastModifiedBy>
  <cp:revision>1</cp:revision>
  <dcterms:created xsi:type="dcterms:W3CDTF">2026-06-01T19:51:04Z</dcterms:created>
  <dcterms:modified xsi:type="dcterms:W3CDTF">2026-06-01T19:51:04Z</dcterms:modified>
</cp:coreProperties>
</file>